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2" r:id="rId1"/>
  </p:sldMasterIdLst>
  <p:notesMasterIdLst>
    <p:notesMasterId r:id="rId28"/>
  </p:notesMasterIdLst>
  <p:sldIdLst>
    <p:sldId id="256" r:id="rId2"/>
    <p:sldId id="259" r:id="rId3"/>
    <p:sldId id="264" r:id="rId4"/>
    <p:sldId id="314" r:id="rId5"/>
    <p:sldId id="313" r:id="rId6"/>
    <p:sldId id="262" r:id="rId7"/>
    <p:sldId id="301" r:id="rId8"/>
    <p:sldId id="261" r:id="rId9"/>
    <p:sldId id="302" r:id="rId10"/>
    <p:sldId id="303" r:id="rId11"/>
    <p:sldId id="315" r:id="rId12"/>
    <p:sldId id="319" r:id="rId13"/>
    <p:sldId id="304" r:id="rId14"/>
    <p:sldId id="265" r:id="rId15"/>
    <p:sldId id="317" r:id="rId16"/>
    <p:sldId id="316" r:id="rId17"/>
    <p:sldId id="327" r:id="rId18"/>
    <p:sldId id="322" r:id="rId19"/>
    <p:sldId id="328" r:id="rId20"/>
    <p:sldId id="325" r:id="rId21"/>
    <p:sldId id="326" r:id="rId22"/>
    <p:sldId id="269" r:id="rId23"/>
    <p:sldId id="323" r:id="rId24"/>
    <p:sldId id="329" r:id="rId25"/>
    <p:sldId id="309" r:id="rId26"/>
    <p:sldId id="273" r:id="rId27"/>
  </p:sldIdLst>
  <p:sldSz cx="9144000" cy="5143500" type="screen16x9"/>
  <p:notesSz cx="6858000" cy="9144000"/>
  <p:embeddedFontLst>
    <p:embeddedFont>
      <p:font typeface="Fira Code" panose="020B0809050000020004" pitchFamily="49" charset="0"/>
      <p:regular r:id="rId29"/>
      <p:bold r:id="rId30"/>
    </p:embeddedFont>
    <p:embeddedFont>
      <p:font typeface="Raleway" pitchFamily="2" charset="77"/>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2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AA9154-F58D-68C9-7C2D-4B0AC7FA7B8A}" v="7" dt="2023-12-08T00:09:25.546"/>
    <p1510:client id="{716382AD-829A-2AAD-2899-7237A4977B32}" v="4" dt="2023-12-05T14:25:37.224"/>
  </p1510:revLst>
</p1510:revInfo>
</file>

<file path=ppt/tableStyles.xml><?xml version="1.0" encoding="utf-8"?>
<a:tblStyleLst xmlns:a="http://schemas.openxmlformats.org/drawingml/2006/main" def="{14D53D6C-B361-4B53-95BB-343095245709}">
  <a:tblStyle styleId="{14D53D6C-B361-4B53-95BB-34309524570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5" autoAdjust="0"/>
    <p:restoredTop sz="93447" autoAdjust="0"/>
  </p:normalViewPr>
  <p:slideViewPr>
    <p:cSldViewPr snapToGrid="0">
      <p:cViewPr varScale="1">
        <p:scale>
          <a:sx n="95" d="100"/>
          <a:sy n="95" d="100"/>
        </p:scale>
        <p:origin x="192"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si Kamani" userId="S::bansi.kamani@postgrad.manchester.ac.uk::7fdf8eb7-1f11-4748-8141-84ced2ec3599" providerId="AD" clId="Web-{716382AD-829A-2AAD-2899-7237A4977B32}"/>
    <pc:docChg chg="delSld modSld">
      <pc:chgData name="Bansi Kamani" userId="S::bansi.kamani@postgrad.manchester.ac.uk::7fdf8eb7-1f11-4748-8141-84ced2ec3599" providerId="AD" clId="Web-{716382AD-829A-2AAD-2899-7237A4977B32}" dt="2023-12-05T14:25:34.083" v="2" actId="20577"/>
      <pc:docMkLst>
        <pc:docMk/>
      </pc:docMkLst>
      <pc:sldChg chg="del">
        <pc:chgData name="Bansi Kamani" userId="S::bansi.kamani@postgrad.manchester.ac.uk::7fdf8eb7-1f11-4748-8141-84ced2ec3599" providerId="AD" clId="Web-{716382AD-829A-2AAD-2899-7237A4977B32}" dt="2023-12-05T14:25:25.083" v="0"/>
        <pc:sldMkLst>
          <pc:docMk/>
          <pc:sldMk cId="4212596619" sldId="308"/>
        </pc:sldMkLst>
      </pc:sldChg>
      <pc:sldChg chg="modSp">
        <pc:chgData name="Bansi Kamani" userId="S::bansi.kamani@postgrad.manchester.ac.uk::7fdf8eb7-1f11-4748-8141-84ced2ec3599" providerId="AD" clId="Web-{716382AD-829A-2AAD-2899-7237A4977B32}" dt="2023-12-05T14:25:34.083" v="2" actId="20577"/>
        <pc:sldMkLst>
          <pc:docMk/>
          <pc:sldMk cId="1504481870" sldId="322"/>
        </pc:sldMkLst>
        <pc:spChg chg="mod">
          <ac:chgData name="Bansi Kamani" userId="S::bansi.kamani@postgrad.manchester.ac.uk::7fdf8eb7-1f11-4748-8141-84ced2ec3599" providerId="AD" clId="Web-{716382AD-829A-2AAD-2899-7237A4977B32}" dt="2023-12-05T14:25:34.083" v="2" actId="20577"/>
          <ac:spMkLst>
            <pc:docMk/>
            <pc:sldMk cId="1504481870" sldId="322"/>
            <ac:spMk id="12" creationId="{4A687F9B-B2A8-9FC0-CDF3-DC2511BA9DDB}"/>
          </ac:spMkLst>
        </pc:spChg>
      </pc:sldChg>
    </pc:docChg>
  </pc:docChgLst>
  <pc:docChgLst>
    <pc:chgData name="Vedant Pritam Mundhe" userId="S::vedantpritam.mundhe@postgrad.manchester.ac.uk::7b38af44-f4fb-49c8-b78e-70432baf109e" providerId="AD" clId="Web-{1EAA9154-F58D-68C9-7C2D-4B0AC7FA7B8A}"/>
    <pc:docChg chg="addSld delSld modSld">
      <pc:chgData name="Vedant Pritam Mundhe" userId="S::vedantpritam.mundhe@postgrad.manchester.ac.uk::7b38af44-f4fb-49c8-b78e-70432baf109e" providerId="AD" clId="Web-{1EAA9154-F58D-68C9-7C2D-4B0AC7FA7B8A}" dt="2023-12-08T00:09:25.546" v="5"/>
      <pc:docMkLst>
        <pc:docMk/>
      </pc:docMkLst>
      <pc:sldChg chg="modSp">
        <pc:chgData name="Vedant Pritam Mundhe" userId="S::vedantpritam.mundhe@postgrad.manchester.ac.uk::7b38af44-f4fb-49c8-b78e-70432baf109e" providerId="AD" clId="Web-{1EAA9154-F58D-68C9-7C2D-4B0AC7FA7B8A}" dt="2023-12-07T22:47:22.625" v="3" actId="20577"/>
        <pc:sldMkLst>
          <pc:docMk/>
          <pc:sldMk cId="2970341597" sldId="313"/>
        </pc:sldMkLst>
        <pc:spChg chg="mod">
          <ac:chgData name="Vedant Pritam Mundhe" userId="S::vedantpritam.mundhe@postgrad.manchester.ac.uk::7b38af44-f4fb-49c8-b78e-70432baf109e" providerId="AD" clId="Web-{1EAA9154-F58D-68C9-7C2D-4B0AC7FA7B8A}" dt="2023-12-07T22:47:22.625" v="3" actId="20577"/>
          <ac:spMkLst>
            <pc:docMk/>
            <pc:sldMk cId="2970341597" sldId="313"/>
            <ac:spMk id="15" creationId="{D1C4DCD3-9A84-C07D-AC74-0F001FD995DF}"/>
          </ac:spMkLst>
        </pc:spChg>
      </pc:sldChg>
      <pc:sldChg chg="new del">
        <pc:chgData name="Vedant Pritam Mundhe" userId="S::vedantpritam.mundhe@postgrad.manchester.ac.uk::7b38af44-f4fb-49c8-b78e-70432baf109e" providerId="AD" clId="Web-{1EAA9154-F58D-68C9-7C2D-4B0AC7FA7B8A}" dt="2023-12-08T00:09:25.546" v="5"/>
        <pc:sldMkLst>
          <pc:docMk/>
          <pc:sldMk cId="1575525372" sldId="330"/>
        </pc:sldMkLst>
      </pc:sldChg>
    </pc:docChg>
  </pc:docChgLst>
  <pc:docChgLst>
    <pc:chgData name="Bansi Kamani" userId="7fdf8eb7-1f11-4748-8141-84ced2ec3599" providerId="ADAL" clId="{F0300DA2-2703-4865-A5FB-B409BC15C184}"/>
    <pc:docChg chg="undo redo custSel addSld delSld modSld sldOrd">
      <pc:chgData name="Bansi Kamani" userId="7fdf8eb7-1f11-4748-8141-84ced2ec3599" providerId="ADAL" clId="{F0300DA2-2703-4865-A5FB-B409BC15C184}" dt="2023-12-05T14:24:08.333" v="3378" actId="255"/>
      <pc:docMkLst>
        <pc:docMk/>
      </pc:docMkLst>
      <pc:sldChg chg="modSp mod">
        <pc:chgData name="Bansi Kamani" userId="7fdf8eb7-1f11-4748-8141-84ced2ec3599" providerId="ADAL" clId="{F0300DA2-2703-4865-A5FB-B409BC15C184}" dt="2023-12-05T13:04:28.819" v="17" actId="20577"/>
        <pc:sldMkLst>
          <pc:docMk/>
          <pc:sldMk cId="0" sldId="256"/>
        </pc:sldMkLst>
        <pc:spChg chg="mod">
          <ac:chgData name="Bansi Kamani" userId="7fdf8eb7-1f11-4748-8141-84ced2ec3599" providerId="ADAL" clId="{F0300DA2-2703-4865-A5FB-B409BC15C184}" dt="2023-12-05T13:04:28.819" v="17" actId="20577"/>
          <ac:spMkLst>
            <pc:docMk/>
            <pc:sldMk cId="0" sldId="256"/>
            <ac:spMk id="459" creationId="{00000000-0000-0000-0000-000000000000}"/>
          </ac:spMkLst>
        </pc:spChg>
      </pc:sldChg>
      <pc:sldChg chg="modSp mod modNotesTx">
        <pc:chgData name="Bansi Kamani" userId="7fdf8eb7-1f11-4748-8141-84ced2ec3599" providerId="ADAL" clId="{F0300DA2-2703-4865-A5FB-B409BC15C184}" dt="2023-12-05T13:22:45.827" v="1380" actId="207"/>
        <pc:sldMkLst>
          <pc:docMk/>
          <pc:sldMk cId="0" sldId="259"/>
        </pc:sldMkLst>
        <pc:spChg chg="mod">
          <ac:chgData name="Bansi Kamani" userId="7fdf8eb7-1f11-4748-8141-84ced2ec3599" providerId="ADAL" clId="{F0300DA2-2703-4865-A5FB-B409BC15C184}" dt="2023-12-05T13:22:45.827" v="1380" actId="207"/>
          <ac:spMkLst>
            <pc:docMk/>
            <pc:sldMk cId="0" sldId="259"/>
            <ac:spMk id="6" creationId="{0BAEBF72-BC58-27B6-CC36-DA9BB4926B0D}"/>
          </ac:spMkLst>
        </pc:spChg>
      </pc:sldChg>
      <pc:sldChg chg="modNotesTx">
        <pc:chgData name="Bansi Kamani" userId="7fdf8eb7-1f11-4748-8141-84ced2ec3599" providerId="ADAL" clId="{F0300DA2-2703-4865-A5FB-B409BC15C184}" dt="2023-12-05T13:34:56.127" v="2189" actId="20577"/>
        <pc:sldMkLst>
          <pc:docMk/>
          <pc:sldMk cId="0" sldId="261"/>
        </pc:sldMkLst>
      </pc:sldChg>
      <pc:sldChg chg="modSp mod">
        <pc:chgData name="Bansi Kamani" userId="7fdf8eb7-1f11-4748-8141-84ced2ec3599" providerId="ADAL" clId="{F0300DA2-2703-4865-A5FB-B409BC15C184}" dt="2023-12-05T14:23:10.816" v="3371" actId="20577"/>
        <pc:sldMkLst>
          <pc:docMk/>
          <pc:sldMk cId="0" sldId="267"/>
        </pc:sldMkLst>
        <pc:spChg chg="mod">
          <ac:chgData name="Bansi Kamani" userId="7fdf8eb7-1f11-4748-8141-84ced2ec3599" providerId="ADAL" clId="{F0300DA2-2703-4865-A5FB-B409BC15C184}" dt="2023-12-05T14:23:10.816" v="3371" actId="20577"/>
          <ac:spMkLst>
            <pc:docMk/>
            <pc:sldMk cId="0" sldId="267"/>
            <ac:spMk id="10" creationId="{012EDB93-BF29-3238-3397-092E1125BEB2}"/>
          </ac:spMkLst>
        </pc:spChg>
      </pc:sldChg>
      <pc:sldChg chg="modNotesTx">
        <pc:chgData name="Bansi Kamani" userId="7fdf8eb7-1f11-4748-8141-84ced2ec3599" providerId="ADAL" clId="{F0300DA2-2703-4865-A5FB-B409BC15C184}" dt="2023-12-05T13:29:16.784" v="1746"/>
        <pc:sldMkLst>
          <pc:docMk/>
          <pc:sldMk cId="1340565826" sldId="301"/>
        </pc:sldMkLst>
      </pc:sldChg>
      <pc:sldChg chg="addSp modSp mod modNotesTx">
        <pc:chgData name="Bansi Kamani" userId="7fdf8eb7-1f11-4748-8141-84ced2ec3599" providerId="ADAL" clId="{F0300DA2-2703-4865-A5FB-B409BC15C184}" dt="2023-12-05T13:48:05.639" v="2747" actId="20577"/>
        <pc:sldMkLst>
          <pc:docMk/>
          <pc:sldMk cId="1670523422" sldId="302"/>
        </pc:sldMkLst>
        <pc:picChg chg="add mod">
          <ac:chgData name="Bansi Kamani" userId="7fdf8eb7-1f11-4748-8141-84ced2ec3599" providerId="ADAL" clId="{F0300DA2-2703-4865-A5FB-B409BC15C184}" dt="2023-12-05T13:42:22.443" v="2197" actId="14100"/>
          <ac:picMkLst>
            <pc:docMk/>
            <pc:sldMk cId="1670523422" sldId="302"/>
            <ac:picMk id="5" creationId="{344518FF-09FC-C287-16FB-5E73180DD4B4}"/>
          </ac:picMkLst>
        </pc:picChg>
      </pc:sldChg>
      <pc:sldChg chg="modNotesTx">
        <pc:chgData name="Bansi Kamani" userId="7fdf8eb7-1f11-4748-8141-84ced2ec3599" providerId="ADAL" clId="{F0300DA2-2703-4865-A5FB-B409BC15C184}" dt="2023-12-05T13:51:32.893" v="2748" actId="20577"/>
        <pc:sldMkLst>
          <pc:docMk/>
          <pc:sldMk cId="2882600157" sldId="304"/>
        </pc:sldMkLst>
      </pc:sldChg>
      <pc:sldChg chg="modSp mod">
        <pc:chgData name="Bansi Kamani" userId="7fdf8eb7-1f11-4748-8141-84ced2ec3599" providerId="ADAL" clId="{F0300DA2-2703-4865-A5FB-B409BC15C184}" dt="2023-12-05T14:24:08.333" v="3378" actId="255"/>
        <pc:sldMkLst>
          <pc:docMk/>
          <pc:sldMk cId="726576922" sldId="306"/>
        </pc:sldMkLst>
        <pc:spChg chg="mod">
          <ac:chgData name="Bansi Kamani" userId="7fdf8eb7-1f11-4748-8141-84ced2ec3599" providerId="ADAL" clId="{F0300DA2-2703-4865-A5FB-B409BC15C184}" dt="2023-12-05T14:24:08.333" v="3378" actId="255"/>
          <ac:spMkLst>
            <pc:docMk/>
            <pc:sldMk cId="726576922" sldId="306"/>
            <ac:spMk id="8" creationId="{B062E923-470F-4749-AF73-75B4B2168031}"/>
          </ac:spMkLst>
        </pc:spChg>
      </pc:sldChg>
      <pc:sldChg chg="modSp mod">
        <pc:chgData name="Bansi Kamani" userId="7fdf8eb7-1f11-4748-8141-84ced2ec3599" providerId="ADAL" clId="{F0300DA2-2703-4865-A5FB-B409BC15C184}" dt="2023-12-05T14:17:24.460" v="3353" actId="21"/>
        <pc:sldMkLst>
          <pc:docMk/>
          <pc:sldMk cId="4212596619" sldId="308"/>
        </pc:sldMkLst>
        <pc:spChg chg="mod">
          <ac:chgData name="Bansi Kamani" userId="7fdf8eb7-1f11-4748-8141-84ced2ec3599" providerId="ADAL" clId="{F0300DA2-2703-4865-A5FB-B409BC15C184}" dt="2023-12-05T14:17:24.460" v="3353" actId="21"/>
          <ac:spMkLst>
            <pc:docMk/>
            <pc:sldMk cId="4212596619" sldId="308"/>
            <ac:spMk id="12" creationId="{4A687F9B-B2A8-9FC0-CDF3-DC2511BA9DDB}"/>
          </ac:spMkLst>
        </pc:spChg>
      </pc:sldChg>
      <pc:sldChg chg="modSp mod">
        <pc:chgData name="Bansi Kamani" userId="7fdf8eb7-1f11-4748-8141-84ced2ec3599" providerId="ADAL" clId="{F0300DA2-2703-4865-A5FB-B409BC15C184}" dt="2023-12-05T13:25:43.581" v="1387" actId="113"/>
        <pc:sldMkLst>
          <pc:docMk/>
          <pc:sldMk cId="2970341597" sldId="313"/>
        </pc:sldMkLst>
        <pc:spChg chg="mod">
          <ac:chgData name="Bansi Kamani" userId="7fdf8eb7-1f11-4748-8141-84ced2ec3599" providerId="ADAL" clId="{F0300DA2-2703-4865-A5FB-B409BC15C184}" dt="2023-12-05T13:25:43.581" v="1387" actId="113"/>
          <ac:spMkLst>
            <pc:docMk/>
            <pc:sldMk cId="2970341597" sldId="313"/>
            <ac:spMk id="15" creationId="{D1C4DCD3-9A84-C07D-AC74-0F001FD995DF}"/>
          </ac:spMkLst>
        </pc:spChg>
      </pc:sldChg>
      <pc:sldChg chg="modSp mod modNotesTx">
        <pc:chgData name="Bansi Kamani" userId="7fdf8eb7-1f11-4748-8141-84ced2ec3599" providerId="ADAL" clId="{F0300DA2-2703-4865-A5FB-B409BC15C184}" dt="2023-12-05T13:22:20.868" v="1379" actId="2711"/>
        <pc:sldMkLst>
          <pc:docMk/>
          <pc:sldMk cId="1126724092" sldId="314"/>
        </pc:sldMkLst>
        <pc:spChg chg="mod">
          <ac:chgData name="Bansi Kamani" userId="7fdf8eb7-1f11-4748-8141-84ced2ec3599" providerId="ADAL" clId="{F0300DA2-2703-4865-A5FB-B409BC15C184}" dt="2023-12-05T13:22:20.868" v="1379" actId="2711"/>
          <ac:spMkLst>
            <pc:docMk/>
            <pc:sldMk cId="1126724092" sldId="314"/>
            <ac:spMk id="3" creationId="{7401B7F5-4500-6B98-146E-03E5CA9A4E5A}"/>
          </ac:spMkLst>
        </pc:spChg>
        <pc:spChg chg="mod">
          <ac:chgData name="Bansi Kamani" userId="7fdf8eb7-1f11-4748-8141-84ced2ec3599" providerId="ADAL" clId="{F0300DA2-2703-4865-A5FB-B409BC15C184}" dt="2023-12-05T13:22:09.889" v="1378" actId="2711"/>
          <ac:spMkLst>
            <pc:docMk/>
            <pc:sldMk cId="1126724092" sldId="314"/>
            <ac:spMk id="6" creationId="{21EAEBB3-D94B-2D3B-93DA-8B89B4D552A2}"/>
          </ac:spMkLst>
        </pc:spChg>
        <pc:spChg chg="mod">
          <ac:chgData name="Bansi Kamani" userId="7fdf8eb7-1f11-4748-8141-84ced2ec3599" providerId="ADAL" clId="{F0300DA2-2703-4865-A5FB-B409BC15C184}" dt="2023-12-05T13:21:59.849" v="1377" actId="20577"/>
          <ac:spMkLst>
            <pc:docMk/>
            <pc:sldMk cId="1126724092" sldId="314"/>
            <ac:spMk id="9" creationId="{49B18F99-15AF-0328-AA3B-E979564CA429}"/>
          </ac:spMkLst>
        </pc:spChg>
      </pc:sldChg>
      <pc:sldChg chg="modSp mod">
        <pc:chgData name="Bansi Kamani" userId="7fdf8eb7-1f11-4748-8141-84ced2ec3599" providerId="ADAL" clId="{F0300DA2-2703-4865-A5FB-B409BC15C184}" dt="2023-12-05T13:58:17.498" v="2749" actId="207"/>
        <pc:sldMkLst>
          <pc:docMk/>
          <pc:sldMk cId="3853961963" sldId="316"/>
        </pc:sldMkLst>
        <pc:spChg chg="mod">
          <ac:chgData name="Bansi Kamani" userId="7fdf8eb7-1f11-4748-8141-84ced2ec3599" providerId="ADAL" clId="{F0300DA2-2703-4865-A5FB-B409BC15C184}" dt="2023-12-05T13:58:17.498" v="2749" actId="207"/>
          <ac:spMkLst>
            <pc:docMk/>
            <pc:sldMk cId="3853961963" sldId="316"/>
            <ac:spMk id="8" creationId="{6EA9CC2E-30AF-AA6A-03A9-E75768DFED96}"/>
          </ac:spMkLst>
        </pc:spChg>
      </pc:sldChg>
      <pc:sldChg chg="modSp mod">
        <pc:chgData name="Bansi Kamani" userId="7fdf8eb7-1f11-4748-8141-84ced2ec3599" providerId="ADAL" clId="{F0300DA2-2703-4865-A5FB-B409BC15C184}" dt="2023-12-05T14:18:53.533" v="3365" actId="207"/>
        <pc:sldMkLst>
          <pc:docMk/>
          <pc:sldMk cId="1349646254" sldId="320"/>
        </pc:sldMkLst>
        <pc:spChg chg="mod">
          <ac:chgData name="Bansi Kamani" userId="7fdf8eb7-1f11-4748-8141-84ced2ec3599" providerId="ADAL" clId="{F0300DA2-2703-4865-A5FB-B409BC15C184}" dt="2023-12-05T14:18:53.533" v="3365" actId="207"/>
          <ac:spMkLst>
            <pc:docMk/>
            <pc:sldMk cId="1349646254" sldId="320"/>
            <ac:spMk id="10" creationId="{9F39856C-B736-815E-AF6D-3B7DA09BC7B2}"/>
          </ac:spMkLst>
        </pc:spChg>
      </pc:sldChg>
      <pc:sldChg chg="new del">
        <pc:chgData name="Bansi Kamani" userId="7fdf8eb7-1f11-4748-8141-84ced2ec3599" providerId="ADAL" clId="{F0300DA2-2703-4865-A5FB-B409BC15C184}" dt="2023-12-05T13:58:47.654" v="2751" actId="47"/>
        <pc:sldMkLst>
          <pc:docMk/>
          <pc:sldMk cId="233212713" sldId="321"/>
        </pc:sldMkLst>
      </pc:sldChg>
      <pc:sldChg chg="delSp modSp add del mod ord">
        <pc:chgData name="Bansi Kamani" userId="7fdf8eb7-1f11-4748-8141-84ced2ec3599" providerId="ADAL" clId="{F0300DA2-2703-4865-A5FB-B409BC15C184}" dt="2023-12-05T14:00:36.601" v="2777" actId="47"/>
        <pc:sldMkLst>
          <pc:docMk/>
          <pc:sldMk cId="2171240121" sldId="321"/>
        </pc:sldMkLst>
        <pc:spChg chg="mod">
          <ac:chgData name="Bansi Kamani" userId="7fdf8eb7-1f11-4748-8141-84ced2ec3599" providerId="ADAL" clId="{F0300DA2-2703-4865-A5FB-B409BC15C184}" dt="2023-12-05T13:59:57.199" v="2773" actId="20577"/>
          <ac:spMkLst>
            <pc:docMk/>
            <pc:sldMk cId="2171240121" sldId="321"/>
            <ac:spMk id="8" creationId="{6EA9CC2E-30AF-AA6A-03A9-E75768DFED96}"/>
          </ac:spMkLst>
        </pc:spChg>
        <pc:spChg chg="mod">
          <ac:chgData name="Bansi Kamani" userId="7fdf8eb7-1f11-4748-8141-84ced2ec3599" providerId="ADAL" clId="{F0300DA2-2703-4865-A5FB-B409BC15C184}" dt="2023-12-05T14:00:09.720" v="2774" actId="14100"/>
          <ac:spMkLst>
            <pc:docMk/>
            <pc:sldMk cId="2171240121" sldId="321"/>
            <ac:spMk id="9" creationId="{E10EF5F1-69C2-61F5-3DC0-48976B6EC193}"/>
          </ac:spMkLst>
        </pc:spChg>
        <pc:spChg chg="mod">
          <ac:chgData name="Bansi Kamani" userId="7fdf8eb7-1f11-4748-8141-84ced2ec3599" providerId="ADAL" clId="{F0300DA2-2703-4865-A5FB-B409BC15C184}" dt="2023-12-05T13:59:51.863" v="2770" actId="20577"/>
          <ac:spMkLst>
            <pc:docMk/>
            <pc:sldMk cId="2171240121" sldId="321"/>
            <ac:spMk id="11" creationId="{96A24A57-D135-3855-573C-14667A161204}"/>
          </ac:spMkLst>
        </pc:spChg>
        <pc:grpChg chg="del">
          <ac:chgData name="Bansi Kamani" userId="7fdf8eb7-1f11-4748-8141-84ced2ec3599" providerId="ADAL" clId="{F0300DA2-2703-4865-A5FB-B409BC15C184}" dt="2023-12-05T14:00:12.140" v="2775" actId="478"/>
          <ac:grpSpMkLst>
            <pc:docMk/>
            <pc:sldMk cId="2171240121" sldId="321"/>
            <ac:grpSpMk id="10" creationId="{32DE1FE3-E22F-9287-BCFD-C775302F6922}"/>
          </ac:grpSpMkLst>
        </pc:grpChg>
        <pc:cxnChg chg="mod">
          <ac:chgData name="Bansi Kamani" userId="7fdf8eb7-1f11-4748-8141-84ced2ec3599" providerId="ADAL" clId="{F0300DA2-2703-4865-A5FB-B409BC15C184}" dt="2023-12-05T14:00:12.140" v="2775" actId="478"/>
          <ac:cxnSpMkLst>
            <pc:docMk/>
            <pc:sldMk cId="2171240121" sldId="321"/>
            <ac:cxnSpMk id="12" creationId="{9346242D-3AC0-CD45-9E2F-4DC0F371095A}"/>
          </ac:cxnSpMkLst>
        </pc:cxnChg>
      </pc:sldChg>
      <pc:sldChg chg="modSp add mod">
        <pc:chgData name="Bansi Kamani" userId="7fdf8eb7-1f11-4748-8141-84ced2ec3599" providerId="ADAL" clId="{F0300DA2-2703-4865-A5FB-B409BC15C184}" dt="2023-12-05T14:05:53.426" v="3341"/>
        <pc:sldMkLst>
          <pc:docMk/>
          <pc:sldMk cId="1504481870" sldId="322"/>
        </pc:sldMkLst>
        <pc:spChg chg="mod">
          <ac:chgData name="Bansi Kamani" userId="7fdf8eb7-1f11-4748-8141-84ced2ec3599" providerId="ADAL" clId="{F0300DA2-2703-4865-A5FB-B409BC15C184}" dt="2023-12-05T14:00:59.845" v="2813" actId="20577"/>
          <ac:spMkLst>
            <pc:docMk/>
            <pc:sldMk cId="1504481870" sldId="322"/>
            <ac:spMk id="11" creationId="{209BD958-83D6-BAF6-CA9D-9F05A6DB1412}"/>
          </ac:spMkLst>
        </pc:spChg>
        <pc:spChg chg="mod">
          <ac:chgData name="Bansi Kamani" userId="7fdf8eb7-1f11-4748-8141-84ced2ec3599" providerId="ADAL" clId="{F0300DA2-2703-4865-A5FB-B409BC15C184}" dt="2023-12-05T14:05:53.426" v="3341"/>
          <ac:spMkLst>
            <pc:docMk/>
            <pc:sldMk cId="1504481870" sldId="322"/>
            <ac:spMk id="12" creationId="{4A687F9B-B2A8-9FC0-CDF3-DC2511BA9D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e7b51334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e7b51334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e7f9c668d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e7f9c668d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800" b="0" i="0" u="none" strike="noStrike" dirty="0">
                <a:solidFill>
                  <a:srgbClr val="000000"/>
                </a:solidFill>
                <a:effectLst/>
                <a:latin typeface="Arial" panose="020B0604020202020204" pitchFamily="34" charset="0"/>
              </a:rPr>
              <a:t>The problem statement was to enhance the sales prediction for South American retailer ABC to improve inventory management, and the challenge the company faced was that they were not able to strike the right balance between supply and demand using predictions. If the value predicted is on the higher side, then the company end up with an overstock of goods, and if the predicted value is on the lower side, then it will lead to a loss of revenue and dissatisfaction in customers as they were not able to buy their desired products.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e7f9c668d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e7f9c668d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e7f9c668d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e7f9c668d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800" b="0" i="0" u="none" strike="noStrike" dirty="0">
                <a:solidFill>
                  <a:srgbClr val="000000"/>
                </a:solidFill>
                <a:effectLst/>
                <a:latin typeface="Arial" panose="020B0604020202020204" pitchFamily="34" charset="0"/>
              </a:rPr>
              <a:t>The particular case with ABC is that there is a lack of automation and execution and minimal data to support decisions. The current approach is more inclined towards subjective forecasting, which leads to inefficient predictions. Counter to this, we are using precise Machine Learning methodologies to give objective predictions. </a:t>
            </a:r>
            <a:endParaRPr dirty="0"/>
          </a:p>
        </p:txBody>
      </p:sp>
    </p:spTree>
    <p:extLst>
      <p:ext uri="{BB962C8B-B14F-4D97-AF65-F5344CB8AC3E}">
        <p14:creationId xmlns:p14="http://schemas.microsoft.com/office/powerpoint/2010/main" val="3590762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pPr marL="158750" indent="0">
              <a:buNone/>
            </a:pPr>
            <a:endParaRPr lang="zh-TW" altLang="en-US" dirty="0"/>
          </a:p>
        </p:txBody>
      </p:sp>
    </p:spTree>
    <p:extLst>
      <p:ext uri="{BB962C8B-B14F-4D97-AF65-F5344CB8AC3E}">
        <p14:creationId xmlns:p14="http://schemas.microsoft.com/office/powerpoint/2010/main" val="918009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e7f9c668d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e7f9c668d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First, we check if there is any missing value in the dataset.</a:t>
            </a:r>
          </a:p>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Then we transform the ’date’ column to datetime and put it in the index column.</a:t>
            </a:r>
          </a:p>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This the head of our processed data, you can see that the index column is the date and follow by id, store num…</a:t>
            </a:r>
          </a:p>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The last step of pre-processing is to save the data in a CSV file</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e7b3cc9d3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e7b3cc9d3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 move on to EDA part.</a:t>
            </a:r>
          </a:p>
          <a:p>
            <a:pPr marL="0" lvl="0" indent="0" algn="l" rtl="0">
              <a:spcBef>
                <a:spcPts val="0"/>
              </a:spcBef>
              <a:spcAft>
                <a:spcPts val="0"/>
              </a:spcAft>
              <a:buNone/>
            </a:pPr>
            <a:r>
              <a:rPr lang="en-US" dirty="0"/>
              <a:t>We plotted the overall sales versus time to observe the sales trend all over the years, and we observed an increasing trend.</a:t>
            </a:r>
            <a:endParaRPr dirty="0"/>
          </a:p>
        </p:txBody>
      </p:sp>
    </p:spTree>
    <p:extLst>
      <p:ext uri="{BB962C8B-B14F-4D97-AF65-F5344CB8AC3E}">
        <p14:creationId xmlns:p14="http://schemas.microsoft.com/office/powerpoint/2010/main" val="1758625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e7b3cc9d3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e7b3cc9d3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After this, we wanted to observe sales for each product for all stores, so we plot a sales vs product graph.</a:t>
            </a:r>
          </a:p>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In which we can see that several products have almost zero sales overall. </a:t>
            </a:r>
          </a:p>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And there are also some products like beverage, grocery1 and produce have relatively high sales overall compare to all the other products.</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e7b3cc9d3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e7b3cc9d3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Looking at the heat map, we can see that the mean sales across each combination have a considerably wide range.</a:t>
            </a:r>
          </a:p>
          <a:p>
            <a:pPr marL="0" lvl="0" indent="0" algn="l" rtl="0">
              <a:spcBef>
                <a:spcPts val="0"/>
              </a:spcBef>
              <a:spcAft>
                <a:spcPts val="0"/>
              </a:spcAft>
              <a:buNone/>
            </a:pPr>
            <a:r>
              <a:rPr lang="en-US" dirty="0">
                <a:latin typeface="Calibri" panose="020F0502020204030204" pitchFamily="34" charset="0"/>
                <a:ea typeface="Calibri" panose="020F0502020204030204" pitchFamily="34" charset="0"/>
                <a:cs typeface="Calibri" panose="020F0502020204030204" pitchFamily="34" charset="0"/>
              </a:rPr>
              <a:t>So we decided that, each combination should have their own suitable models for forecasting. </a:t>
            </a: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15570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e7b3cc9d3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e7b3cc9d3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sz="1000" i="0" dirty="0">
                <a:solidFill>
                  <a:schemeClr val="accent6"/>
                </a:solidFill>
                <a:latin typeface="Calibri" panose="020F0502020204030204" pitchFamily="34" charset="0"/>
                <a:ea typeface="Calibri" panose="020F0502020204030204" pitchFamily="34" charset="0"/>
                <a:cs typeface="Calibri" panose="020F0502020204030204" pitchFamily="34" charset="0"/>
              </a:rPr>
              <a:t>According to the heat map, we discover that there r some combinations contains 0 sales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sz="1000" i="0" dirty="0">
                <a:solidFill>
                  <a:schemeClr val="accent6"/>
                </a:solidFill>
                <a:latin typeface="Calibri" panose="020F0502020204030204" pitchFamily="34" charset="0"/>
                <a:ea typeface="Calibri" panose="020F0502020204030204" pitchFamily="34" charset="0"/>
                <a:cs typeface="Calibri" panose="020F0502020204030204" pitchFamily="34" charset="0"/>
              </a:rPr>
              <a:t>To ensure that we process the data correctly, we have to separate the data that has zero sales thought out the time</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altLang="zh-TW" sz="1000" i="0" dirty="0">
              <a:solidFill>
                <a:schemeClr val="accent6"/>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sz="1000" i="0" dirty="0">
                <a:solidFill>
                  <a:schemeClr val="accent6"/>
                </a:solidFill>
                <a:latin typeface="Calibri" panose="020F0502020204030204" pitchFamily="34" charset="0"/>
                <a:ea typeface="Calibri" panose="020F0502020204030204" pitchFamily="34" charset="0"/>
                <a:cs typeface="Calibri" panose="020F0502020204030204" pitchFamily="34" charset="0"/>
              </a:rPr>
              <a:t>And focus on Non-Zero sales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ltLang="zh-TW" sz="1000" i="0" dirty="0">
                <a:solidFill>
                  <a:schemeClr val="accent6"/>
                </a:solidFill>
                <a:latin typeface="Calibri" panose="020F0502020204030204" pitchFamily="34" charset="0"/>
                <a:ea typeface="Calibri" panose="020F0502020204030204" pitchFamily="34" charset="0"/>
                <a:cs typeface="Calibri" panose="020F0502020204030204" pitchFamily="34" charset="0"/>
              </a:rPr>
              <a:t>Next, We have Vedant to present our workflow</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altLang="zh-TW" sz="1000" i="0" dirty="0">
              <a:solidFill>
                <a:schemeClr val="accent6"/>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24747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e7f9c668d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e7f9c668d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Firstly, we kick off by reading and importing our data, setting the foundation for our analysis. Following this, we engage in data preprocessing to ensure our dataset is clean, consistent, and ready for </a:t>
            </a:r>
            <a:r>
              <a:rPr lang="en-US" dirty="0" err="1"/>
              <a:t>analysis.Moving</a:t>
            </a:r>
            <a:r>
              <a:rPr lang="en-US" dirty="0"/>
              <a:t> forward, we conduct Exploratory Data Analysis (EDA) to glean insights into our dataset. Post EDA, we take a strategic step in selecting specific store-product combinations, narrowing our focus for targeted </a:t>
            </a:r>
            <a:r>
              <a:rPr lang="en-US" dirty="0" err="1"/>
              <a:t>predictions.Now</a:t>
            </a:r>
            <a:r>
              <a:rPr lang="en-US" dirty="0"/>
              <a:t>, the predictive journey diverges. For instances where sales are zero, we employ NumPy methods for accurate predictions. Conversely, for non-zero sales, we leverage the power of five distinct models: Random Forest, Linear Regression, MLP, </a:t>
            </a:r>
            <a:r>
              <a:rPr lang="en-US" dirty="0" err="1"/>
              <a:t>XGBoost</a:t>
            </a:r>
            <a:r>
              <a:rPr lang="en-US" dirty="0"/>
              <a:t>, and </a:t>
            </a:r>
            <a:r>
              <a:rPr lang="en-US" dirty="0" err="1"/>
              <a:t>LightGBM.Feature</a:t>
            </a:r>
            <a:r>
              <a:rPr lang="en-US" dirty="0"/>
              <a:t> selection comes next, streamlining our dataset for optimal model performance. Following this, we split our data into training and testing sets, laying the groundwork for model </a:t>
            </a:r>
            <a:r>
              <a:rPr lang="en-US" dirty="0" err="1"/>
              <a:t>evaluation.To</a:t>
            </a:r>
            <a:r>
              <a:rPr lang="en-US" dirty="0"/>
              <a:t> enhance our models, we engage in hyperparameter tuning, fine-tuning the parameters for each model to maximize predictive accuracy. The culmination of this process involves calculating Mean Absolute Error (MAE) for each model.in the final stretch, we compare the MAE values of all models, identifying the model with the minimum MAE. This optimal model is then stored in a results table, capturing the essence of our predictive </a:t>
            </a:r>
            <a:r>
              <a:rPr lang="en-US" dirty="0" err="1"/>
              <a:t>prowess.As</a:t>
            </a:r>
            <a:r>
              <a:rPr lang="en-US" dirty="0"/>
              <a:t> we seamlessly loop through these steps for each store, this iterative process ensures a comprehensive analysis for our entire dataset</a:t>
            </a:r>
            <a:endParaRPr dirty="0"/>
          </a:p>
        </p:txBody>
      </p:sp>
    </p:spTree>
    <p:extLst>
      <p:ext uri="{BB962C8B-B14F-4D97-AF65-F5344CB8AC3E}">
        <p14:creationId xmlns:p14="http://schemas.microsoft.com/office/powerpoint/2010/main" val="1411837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e7f9c668d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e7f9c668d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16583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e7b3cc9d39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e7b3cc9d39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TW" sz="1800" dirty="0"/>
              <a:t>Segmentation. Firstly, we employ a strategic </a:t>
            </a:r>
            <a:r>
              <a:rPr lang="en-US" altLang="zh-TW" sz="1800" dirty="0" err="1"/>
              <a:t>groupby</a:t>
            </a:r>
            <a:r>
              <a:rPr lang="en-US" altLang="zh-TW" sz="1800" dirty="0"/>
              <a:t> operation, combining both Store and Product dimensions. This approach provides explicit insights into sales patterns, enabling us to discern nuanced trends within specific store-product combinations. For instances where sales are zero, we employ straightforward NumPy methods for accurate predictions. This streamlined approach ensures efficiency in predicting instances where no sales are </a:t>
            </a:r>
            <a:r>
              <a:rPr lang="en-US" altLang="zh-TW" sz="1800" dirty="0" err="1"/>
              <a:t>recorded.Conversely</a:t>
            </a:r>
            <a:r>
              <a:rPr lang="en-US" altLang="zh-TW" sz="1800" dirty="0"/>
              <a:t>, for non-zero sales, we venture into the realm of distinct regression and machine learning models. This sophisticated approach, including models such as Random Forest, Linear Regression, MLP, </a:t>
            </a:r>
            <a:r>
              <a:rPr lang="en-US" altLang="zh-TW" sz="1800" dirty="0" err="1"/>
              <a:t>XGBoost</a:t>
            </a:r>
            <a:r>
              <a:rPr lang="en-US" altLang="zh-TW" sz="1800" dirty="0"/>
              <a:t>, and </a:t>
            </a:r>
            <a:r>
              <a:rPr lang="en-US" altLang="zh-TW" sz="1800" dirty="0" err="1"/>
              <a:t>LightGBM</a:t>
            </a:r>
            <a:r>
              <a:rPr lang="en-US" altLang="zh-TW" sz="1800" dirty="0"/>
              <a:t>, allows us to capture the complexity of sales patterns where transactions have occurred. The flexibility of this methodology enables us to adapt to the diverse nature of non-zero sales </a:t>
            </a:r>
            <a:r>
              <a:rPr lang="en-US" altLang="zh-TW" sz="1800" dirty="0" err="1"/>
              <a:t>scenarios.In</a:t>
            </a:r>
            <a:r>
              <a:rPr lang="en-US" altLang="zh-TW" sz="1800" dirty="0"/>
              <a:t> the final stretch, we compare the MAE values of all models, identifying the model with the minimum MAE. This optimal model is then stored in a results table, capturing the essence of our predictive </a:t>
            </a:r>
            <a:r>
              <a:rPr lang="en-US" altLang="zh-TW" sz="1800" dirty="0" err="1"/>
              <a:t>prowess.As</a:t>
            </a:r>
            <a:r>
              <a:rPr lang="en-US" altLang="zh-TW" sz="1800" dirty="0"/>
              <a:t> we seamlessly loop through these steps for each store, this iterative process ensures a comprehensive analysis for our entire dataset. At this juncture, I hand over the baton to the next phase of our analysis. Thank you for your attention, and I invite any questions or discussions on our predictive journey.</a:t>
            </a:r>
          </a:p>
        </p:txBody>
      </p:sp>
    </p:spTree>
    <p:extLst>
      <p:ext uri="{BB962C8B-B14F-4D97-AF65-F5344CB8AC3E}">
        <p14:creationId xmlns:p14="http://schemas.microsoft.com/office/powerpoint/2010/main" val="2609302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e7f9c668d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e7f9c668d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Arial,Sans-Serif"/>
              <a:buNone/>
            </a:pPr>
            <a:r>
              <a:rPr lang="en-US" altLang="zh-TW" sz="2000" b="0" i="1" u="none" strike="noStrike" dirty="0">
                <a:solidFill>
                  <a:srgbClr val="000000"/>
                </a:solidFill>
                <a:effectLst/>
                <a:latin typeface="Arial" panose="020B0604020202020204" pitchFamily="34" charset="0"/>
              </a:rPr>
              <a:t>we didn't use certain features like 'Id' and '</a:t>
            </a:r>
            <a:r>
              <a:rPr lang="en-US" altLang="zh-TW" sz="2000" b="0" i="1" u="none" strike="noStrike" dirty="0" err="1">
                <a:solidFill>
                  <a:srgbClr val="000000"/>
                </a:solidFill>
                <a:effectLst/>
                <a:latin typeface="Arial" panose="020B0604020202020204" pitchFamily="34" charset="0"/>
              </a:rPr>
              <a:t>Store_nbr</a:t>
            </a:r>
            <a:r>
              <a:rPr lang="en-US" altLang="zh-TW" sz="2000" b="0" i="1" u="none" strike="noStrike" dirty="0">
                <a:solidFill>
                  <a:srgbClr val="000000"/>
                </a:solidFill>
                <a:effectLst/>
                <a:latin typeface="Arial" panose="020B0604020202020204" pitchFamily="34" charset="0"/>
              </a:rPr>
              <a:t>' because they didn't really impact sales. Initially, relying only on past sales data didn't give us great predictions. However, when we combined information about special offers with the historical sales data, things started looking more promising.</a:t>
            </a:r>
            <a:endParaRPr lang="en-US" altLang="zh-TW" sz="1200" b="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GB" altLang="zh-TW" b="0" i="1" u="none" strike="noStrike" dirty="0">
                <a:solidFill>
                  <a:srgbClr val="000000"/>
                </a:solidFill>
                <a:effectLst/>
                <a:latin typeface="Arial" panose="020B0604020202020204" pitchFamily="34" charset="0"/>
              </a:rPr>
              <a:t>we trained models with 80% of our data, fine-tuned them with 20%, and then evaluated their final performance on a specific set of dates. To make sure our fine-tuning is realistic, we used a 'Predefined Split' method. Additionally, we optimized the models by trying out different settings with </a:t>
            </a:r>
            <a:r>
              <a:rPr lang="en-GB" altLang="zh-TW" b="0" i="1" u="none" strike="noStrike" dirty="0" err="1">
                <a:solidFill>
                  <a:srgbClr val="000000"/>
                </a:solidFill>
                <a:effectLst/>
                <a:latin typeface="Arial" panose="020B0604020202020204" pitchFamily="34" charset="0"/>
              </a:rPr>
              <a:t>GridSearchCV</a:t>
            </a:r>
            <a:r>
              <a:rPr lang="en-GB" altLang="zh-TW" b="0" i="1" u="none" strike="noStrike" dirty="0">
                <a:solidFill>
                  <a:srgbClr val="000000"/>
                </a:solidFill>
                <a:effectLst/>
                <a:latin typeface="Arial" panose="020B0604020202020204" pitchFamily="34" charset="0"/>
              </a:rPr>
              <a:t> to find the best ones.</a:t>
            </a:r>
            <a:endParaRPr lang="en-GB" dirty="0"/>
          </a:p>
        </p:txBody>
      </p:sp>
    </p:spTree>
    <p:extLst>
      <p:ext uri="{BB962C8B-B14F-4D97-AF65-F5344CB8AC3E}">
        <p14:creationId xmlns:p14="http://schemas.microsoft.com/office/powerpoint/2010/main" val="3295661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e7f9c668d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e7f9c668d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Arial,Sans-Serif"/>
              <a:buNone/>
            </a:pPr>
            <a:endParaRPr lang="en-US" altLang="zh-TW" sz="1200" b="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57235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e7f9c668d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0" name="Google Shape;710;ge7f9c668d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Font typeface="Arial,Sans-Serif"/>
              <a:buNone/>
            </a:pPr>
            <a:r>
              <a:rPr lang="en-US" altLang="zh-TW" sz="2000" b="0" i="1" u="none" strike="noStrike" dirty="0">
                <a:solidFill>
                  <a:srgbClr val="000000"/>
                </a:solidFill>
                <a:effectLst/>
                <a:latin typeface="Arial" panose="020B0604020202020204" pitchFamily="34" charset="0"/>
              </a:rPr>
              <a:t>Simply put, we started with basic Linear Regression but noticed it didn't work well for all store-product combos. So, we switched to a mix of advanced models (Ensemble) like Random Forest, </a:t>
            </a:r>
            <a:r>
              <a:rPr lang="en-US" altLang="zh-TW" sz="2000" b="0" i="1" u="none" strike="noStrike" dirty="0" err="1">
                <a:solidFill>
                  <a:srgbClr val="000000"/>
                </a:solidFill>
                <a:effectLst/>
                <a:latin typeface="Arial" panose="020B0604020202020204" pitchFamily="34" charset="0"/>
              </a:rPr>
              <a:t>XGBoost</a:t>
            </a:r>
            <a:r>
              <a:rPr lang="en-US" altLang="zh-TW" sz="2000" b="0" i="1" u="none" strike="noStrike" dirty="0">
                <a:solidFill>
                  <a:srgbClr val="000000"/>
                </a:solidFill>
                <a:effectLst/>
                <a:latin typeface="Arial" panose="020B0604020202020204" pitchFamily="34" charset="0"/>
              </a:rPr>
              <a:t>, </a:t>
            </a:r>
            <a:r>
              <a:rPr lang="en-US" altLang="zh-TW" sz="2000" b="0" i="1" u="none" strike="noStrike" dirty="0" err="1">
                <a:solidFill>
                  <a:srgbClr val="000000"/>
                </a:solidFill>
                <a:effectLst/>
                <a:latin typeface="Arial" panose="020B0604020202020204" pitchFamily="34" charset="0"/>
              </a:rPr>
              <a:t>LightGBM</a:t>
            </a:r>
            <a:r>
              <a:rPr lang="en-US" altLang="zh-TW" sz="2000" b="0" i="1" u="none" strike="noStrike" dirty="0">
                <a:solidFill>
                  <a:srgbClr val="000000"/>
                </a:solidFill>
                <a:effectLst/>
                <a:latin typeface="Arial" panose="020B0604020202020204" pitchFamily="34" charset="0"/>
              </a:rPr>
              <a:t>, and MLP. These models are better at handling diverse store-product scenarios, perform well, and each brings its own unique strengths to the table.</a:t>
            </a:r>
            <a:endParaRPr lang="en-US" altLang="zh-TW" sz="1200" b="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1408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e7f9c668d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e7f9c668d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03409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9492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Linear can cover widest range of the average sales, and </a:t>
            </a:r>
            <a:r>
              <a:rPr lang="en-US" dirty="0" err="1"/>
              <a:t>randomforest</a:t>
            </a:r>
            <a:r>
              <a:rPr lang="en-US" dirty="0"/>
              <a:t> cover the narrowest range of average sales unit</a:t>
            </a:r>
            <a:br>
              <a:rPr lang="en-US" dirty="0"/>
            </a:br>
            <a:r>
              <a:rPr lang="en-US" altLang="zh-TW" dirty="0"/>
              <a:t>-&gt; this means that if the averages of the sales unit is quite wide, then it could possibly be filter to linear</a:t>
            </a:r>
            <a:endParaRPr dirty="0"/>
          </a:p>
        </p:txBody>
      </p:sp>
    </p:spTree>
    <p:extLst>
      <p:ext uri="{BB962C8B-B14F-4D97-AF65-F5344CB8AC3E}">
        <p14:creationId xmlns:p14="http://schemas.microsoft.com/office/powerpoint/2010/main" val="4038529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Same as the sales range, this result indicates that linear regression can cover the most significant range of the combinations,</a:t>
            </a:r>
            <a:br>
              <a:rPr lang="en-US" dirty="0"/>
            </a:br>
            <a:r>
              <a:rPr lang="en-US" dirty="0"/>
              <a:t>the random forest did not  -&gt; this means that if the range of the sales unit is quite wide, then it could possibly be filter to linear</a:t>
            </a:r>
            <a:br>
              <a:rPr lang="en-US" dirty="0"/>
            </a:br>
            <a:endParaRPr dirty="0"/>
          </a:p>
        </p:txBody>
      </p:sp>
    </p:spTree>
    <p:extLst>
      <p:ext uri="{BB962C8B-B14F-4D97-AF65-F5344CB8AC3E}">
        <p14:creationId xmlns:p14="http://schemas.microsoft.com/office/powerpoint/2010/main" val="470510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50521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52193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7f9c668d6_0_10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7f9c668d6_0_1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80578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e916184070_0_1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e916184070_0_18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542575"/>
            <a:ext cx="9144000" cy="4058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0" y="0"/>
            <a:ext cx="4572000" cy="5928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413525" y="1144250"/>
            <a:ext cx="5788800" cy="5175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3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231025" y="2765300"/>
            <a:ext cx="6202800" cy="460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1800">
                <a:solidFill>
                  <a:schemeClr val="accent3"/>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ubTitle" idx="2"/>
          </p:nvPr>
        </p:nvSpPr>
        <p:spPr>
          <a:xfrm>
            <a:off x="1788725" y="1761800"/>
            <a:ext cx="5788800" cy="4608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30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 name="Google Shape;14;p2"/>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5" name="Google Shape;15;p2"/>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6" name="Google Shape;16;p2"/>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7" name="Google Shape;17;p2"/>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8" name="Google Shape;18;p2"/>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9" name="Google Shape;19;p2"/>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0" name="Google Shape;20;p2"/>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1" name="Google Shape;21;p2"/>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 name="Google Shape;22;p2"/>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3" name="Google Shape;23;p2"/>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 name="Google Shape;24;p2"/>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5" name="Google Shape;25;p2"/>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6" name="Google Shape;26;p2"/>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7" name="Google Shape;27;p2"/>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txBox="1">
            <a:spLocks noGrp="1"/>
          </p:cNvSpPr>
          <p:nvPr>
            <p:ph type="title" hasCustomPrompt="1"/>
          </p:nvPr>
        </p:nvSpPr>
        <p:spPr>
          <a:xfrm flipH="1">
            <a:off x="2054663" y="586975"/>
            <a:ext cx="1842300" cy="11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0000"/>
            </a:lvl1pPr>
            <a:lvl2pPr lvl="1" algn="r" rtl="0">
              <a:spcBef>
                <a:spcPts val="0"/>
              </a:spcBef>
              <a:spcAft>
                <a:spcPts val="0"/>
              </a:spcAft>
              <a:buClr>
                <a:schemeClr val="dk1"/>
              </a:buClr>
              <a:buSzPts val="2500"/>
              <a:buNone/>
              <a:defRPr sz="2500">
                <a:solidFill>
                  <a:schemeClr val="dk1"/>
                </a:solidFill>
              </a:defRPr>
            </a:lvl2pPr>
            <a:lvl3pPr lvl="2" algn="r" rtl="0">
              <a:spcBef>
                <a:spcPts val="0"/>
              </a:spcBef>
              <a:spcAft>
                <a:spcPts val="0"/>
              </a:spcAft>
              <a:buClr>
                <a:schemeClr val="dk1"/>
              </a:buClr>
              <a:buSzPts val="2500"/>
              <a:buNone/>
              <a:defRPr sz="2500">
                <a:solidFill>
                  <a:schemeClr val="dk1"/>
                </a:solidFill>
              </a:defRPr>
            </a:lvl3pPr>
            <a:lvl4pPr lvl="3" algn="r" rtl="0">
              <a:spcBef>
                <a:spcPts val="0"/>
              </a:spcBef>
              <a:spcAft>
                <a:spcPts val="0"/>
              </a:spcAft>
              <a:buClr>
                <a:schemeClr val="dk1"/>
              </a:buClr>
              <a:buSzPts val="2500"/>
              <a:buNone/>
              <a:defRPr sz="2500">
                <a:solidFill>
                  <a:schemeClr val="dk1"/>
                </a:solidFill>
              </a:defRPr>
            </a:lvl4pPr>
            <a:lvl5pPr lvl="4" algn="r" rtl="0">
              <a:spcBef>
                <a:spcPts val="0"/>
              </a:spcBef>
              <a:spcAft>
                <a:spcPts val="0"/>
              </a:spcAft>
              <a:buClr>
                <a:schemeClr val="dk1"/>
              </a:buClr>
              <a:buSzPts val="2500"/>
              <a:buNone/>
              <a:defRPr sz="2500">
                <a:solidFill>
                  <a:schemeClr val="dk1"/>
                </a:solidFill>
              </a:defRPr>
            </a:lvl5pPr>
            <a:lvl6pPr lvl="5" algn="r" rtl="0">
              <a:spcBef>
                <a:spcPts val="0"/>
              </a:spcBef>
              <a:spcAft>
                <a:spcPts val="0"/>
              </a:spcAft>
              <a:buClr>
                <a:schemeClr val="dk1"/>
              </a:buClr>
              <a:buSzPts val="2500"/>
              <a:buNone/>
              <a:defRPr sz="2500">
                <a:solidFill>
                  <a:schemeClr val="dk1"/>
                </a:solidFill>
              </a:defRPr>
            </a:lvl6pPr>
            <a:lvl7pPr lvl="6" algn="r" rtl="0">
              <a:spcBef>
                <a:spcPts val="0"/>
              </a:spcBef>
              <a:spcAft>
                <a:spcPts val="0"/>
              </a:spcAft>
              <a:buClr>
                <a:schemeClr val="dk1"/>
              </a:buClr>
              <a:buSzPts val="2500"/>
              <a:buNone/>
              <a:defRPr sz="2500">
                <a:solidFill>
                  <a:schemeClr val="dk1"/>
                </a:solidFill>
              </a:defRPr>
            </a:lvl7pPr>
            <a:lvl8pPr lvl="7" algn="r" rtl="0">
              <a:spcBef>
                <a:spcPts val="0"/>
              </a:spcBef>
              <a:spcAft>
                <a:spcPts val="0"/>
              </a:spcAft>
              <a:buClr>
                <a:schemeClr val="dk1"/>
              </a:buClr>
              <a:buSzPts val="2500"/>
              <a:buNone/>
              <a:defRPr sz="2500">
                <a:solidFill>
                  <a:schemeClr val="dk1"/>
                </a:solidFill>
              </a:defRPr>
            </a:lvl8pPr>
            <a:lvl9pPr lvl="8" algn="r" rtl="0">
              <a:spcBef>
                <a:spcPts val="0"/>
              </a:spcBef>
              <a:spcAft>
                <a:spcPts val="0"/>
              </a:spcAft>
              <a:buClr>
                <a:schemeClr val="dk1"/>
              </a:buClr>
              <a:buSzPts val="2500"/>
              <a:buNone/>
              <a:defRPr sz="2500">
                <a:solidFill>
                  <a:schemeClr val="dk1"/>
                </a:solidFill>
              </a:defRPr>
            </a:lvl9pPr>
          </a:lstStyle>
          <a:p>
            <a:r>
              <a:t>xx%</a:t>
            </a:r>
          </a:p>
        </p:txBody>
      </p:sp>
      <p:sp>
        <p:nvSpPr>
          <p:cNvPr id="32" name="Google Shape;32;p3"/>
          <p:cNvSpPr txBox="1">
            <a:spLocks noGrp="1"/>
          </p:cNvSpPr>
          <p:nvPr>
            <p:ph type="title" idx="2"/>
          </p:nvPr>
        </p:nvSpPr>
        <p:spPr>
          <a:xfrm>
            <a:off x="2605788" y="1846623"/>
            <a:ext cx="5377200" cy="5355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3000">
                <a:solidFill>
                  <a:schemeClr val="dk2"/>
                </a:solidFill>
              </a:defRPr>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 name="Google Shape;33;p3"/>
          <p:cNvSpPr txBox="1">
            <a:spLocks noGrp="1"/>
          </p:cNvSpPr>
          <p:nvPr>
            <p:ph type="subTitle" idx="1"/>
          </p:nvPr>
        </p:nvSpPr>
        <p:spPr>
          <a:xfrm>
            <a:off x="3038363" y="2448125"/>
            <a:ext cx="3960900" cy="78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800">
                <a:solidFill>
                  <a:schemeClr val="accent3"/>
                </a:solidFill>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34" name="Google Shape;34;p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35" name="Google Shape;35;p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36" name="Google Shape;36;p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37" name="Google Shape;37;p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38" name="Google Shape;38;p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39" name="Google Shape;39;p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40" name="Google Shape;40;p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41" name="Google Shape;41;p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42" name="Google Shape;42;p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43" name="Google Shape;43;p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44" name="Google Shape;44;p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45" name="Google Shape;45;p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46" name="Google Shape;46;p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47" name="Google Shape;47;p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7"/>
        <p:cNvGrpSpPr/>
        <p:nvPr/>
      </p:nvGrpSpPr>
      <p:grpSpPr>
        <a:xfrm>
          <a:off x="0" y="0"/>
          <a:ext cx="0" cy="0"/>
          <a:chOff x="0" y="0"/>
          <a:chExt cx="0" cy="0"/>
        </a:xfrm>
      </p:grpSpPr>
      <p:sp>
        <p:nvSpPr>
          <p:cNvPr id="68" name="Google Shape;68;p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txBox="1">
            <a:spLocks noGrp="1"/>
          </p:cNvSpPr>
          <p:nvPr>
            <p:ph type="subTitle" idx="1"/>
          </p:nvPr>
        </p:nvSpPr>
        <p:spPr>
          <a:xfrm>
            <a:off x="2240150" y="3143327"/>
            <a:ext cx="5137500" cy="7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71" name="Google Shape;71;p5"/>
          <p:cNvSpPr txBox="1">
            <a:spLocks noGrp="1"/>
          </p:cNvSpPr>
          <p:nvPr>
            <p:ph type="subTitle" idx="2"/>
          </p:nvPr>
        </p:nvSpPr>
        <p:spPr>
          <a:xfrm>
            <a:off x="2240150" y="1151940"/>
            <a:ext cx="5137500" cy="784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72" name="Google Shape;72;p5"/>
          <p:cNvSpPr txBox="1">
            <a:spLocks noGrp="1"/>
          </p:cNvSpPr>
          <p:nvPr>
            <p:ph type="subTitle" idx="3"/>
          </p:nvPr>
        </p:nvSpPr>
        <p:spPr>
          <a:xfrm>
            <a:off x="1143250" y="2612625"/>
            <a:ext cx="4057200" cy="530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8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73" name="Google Shape;73;p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74" name="Google Shape;74;p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75" name="Google Shape;75;p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76" name="Google Shape;76;p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77" name="Google Shape;77;p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78" name="Google Shape;78;p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79" name="Google Shape;79;p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80" name="Google Shape;80;p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81" name="Google Shape;81;p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82" name="Google Shape;82;p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83" name="Google Shape;83;p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84" name="Google Shape;84;p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85" name="Google Shape;85;p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86" name="Google Shape;86;p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87" name="Google Shape;87;p5"/>
          <p:cNvSpPr txBox="1">
            <a:spLocks noGrp="1"/>
          </p:cNvSpPr>
          <p:nvPr>
            <p:ph type="title"/>
          </p:nvPr>
        </p:nvSpPr>
        <p:spPr>
          <a:xfrm>
            <a:off x="1143250" y="621240"/>
            <a:ext cx="4057200" cy="530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6"/>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6"/>
          <p:cNvSpPr/>
          <p:nvPr/>
        </p:nvSpPr>
        <p:spPr>
          <a:xfrm>
            <a:off x="457200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92" name="Google Shape;92;p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93" name="Google Shape;93;p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94" name="Google Shape;94;p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95" name="Google Shape;95;p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96" name="Google Shape;96;p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97" name="Google Shape;97;p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98" name="Google Shape;98;p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99" name="Google Shape;99;p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00" name="Google Shape;100;p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01" name="Google Shape;101;p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02" name="Google Shape;102;p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03" name="Google Shape;103;p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04" name="Google Shape;104;p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105" name="Google Shape;105;p6"/>
          <p:cNvSpPr txBox="1">
            <a:spLocks noGrp="1"/>
          </p:cNvSpPr>
          <p:nvPr>
            <p:ph type="title"/>
          </p:nvPr>
        </p:nvSpPr>
        <p:spPr>
          <a:xfrm>
            <a:off x="1143250" y="582700"/>
            <a:ext cx="7290600" cy="5412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5"/>
        <p:cNvGrpSpPr/>
        <p:nvPr/>
      </p:nvGrpSpPr>
      <p:grpSpPr>
        <a:xfrm>
          <a:off x="0" y="0"/>
          <a:ext cx="0" cy="0"/>
          <a:chOff x="0" y="0"/>
          <a:chExt cx="0" cy="0"/>
        </a:xfrm>
      </p:grpSpPr>
      <p:sp>
        <p:nvSpPr>
          <p:cNvPr id="126" name="Google Shape;126;p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8"/>
          <p:cNvSpPr txBox="1">
            <a:spLocks noGrp="1"/>
          </p:cNvSpPr>
          <p:nvPr>
            <p:ph type="title"/>
          </p:nvPr>
        </p:nvSpPr>
        <p:spPr>
          <a:xfrm>
            <a:off x="2673350" y="1194150"/>
            <a:ext cx="4281300" cy="16257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29" name="Google Shape;129;p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30" name="Google Shape;130;p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31" name="Google Shape;131;p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32" name="Google Shape;132;p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33" name="Google Shape;133;p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34" name="Google Shape;134;p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35" name="Google Shape;135;p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36" name="Google Shape;136;p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37" name="Google Shape;137;p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38" name="Google Shape;138;p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39" name="Google Shape;139;p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40" name="Google Shape;140;p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41" name="Google Shape;141;p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42" name="Google Shape;142;p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3"/>
        <p:cNvGrpSpPr/>
        <p:nvPr/>
      </p:nvGrpSpPr>
      <p:grpSpPr>
        <a:xfrm>
          <a:off x="0" y="0"/>
          <a:ext cx="0" cy="0"/>
          <a:chOff x="0" y="0"/>
          <a:chExt cx="0" cy="0"/>
        </a:xfrm>
      </p:grpSpPr>
      <p:sp>
        <p:nvSpPr>
          <p:cNvPr id="144" name="Google Shape;144;p9"/>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9"/>
          <p:cNvSpPr/>
          <p:nvPr/>
        </p:nvSpPr>
        <p:spPr>
          <a:xfrm>
            <a:off x="0" y="0"/>
            <a:ext cx="4572000" cy="592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9"/>
          <p:cNvSpPr txBox="1">
            <a:spLocks noGrp="1"/>
          </p:cNvSpPr>
          <p:nvPr>
            <p:ph type="title"/>
          </p:nvPr>
        </p:nvSpPr>
        <p:spPr>
          <a:xfrm>
            <a:off x="1131500" y="621250"/>
            <a:ext cx="4045200" cy="5307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47" name="Google Shape;147;p9"/>
          <p:cNvSpPr txBox="1">
            <a:spLocks noGrp="1"/>
          </p:cNvSpPr>
          <p:nvPr>
            <p:ph type="subTitle" idx="1"/>
          </p:nvPr>
        </p:nvSpPr>
        <p:spPr>
          <a:xfrm>
            <a:off x="1593350" y="1574450"/>
            <a:ext cx="5539200" cy="14046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48" name="Google Shape;148;p9"/>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149" name="Google Shape;149;p9"/>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150" name="Google Shape;150;p9"/>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151" name="Google Shape;151;p9"/>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152" name="Google Shape;152;p9"/>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153" name="Google Shape;153;p9"/>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154" name="Google Shape;154;p9"/>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155" name="Google Shape;155;p9"/>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156" name="Google Shape;156;p9"/>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157" name="Google Shape;157;p9"/>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158" name="Google Shape;158;p9"/>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159" name="Google Shape;159;p9"/>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160" name="Google Shape;160;p9"/>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161" name="Google Shape;161;p9"/>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8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211"/>
        <p:cNvGrpSpPr/>
        <p:nvPr/>
      </p:nvGrpSpPr>
      <p:grpSpPr>
        <a:xfrm>
          <a:off x="0" y="0"/>
          <a:ext cx="0" cy="0"/>
          <a:chOff x="0" y="0"/>
          <a:chExt cx="0" cy="0"/>
        </a:xfrm>
      </p:grpSpPr>
      <p:sp>
        <p:nvSpPr>
          <p:cNvPr id="212" name="Google Shape;212;p1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4"/>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4"/>
          <p:cNvSpPr txBox="1">
            <a:spLocks noGrp="1"/>
          </p:cNvSpPr>
          <p:nvPr>
            <p:ph type="title"/>
          </p:nvPr>
        </p:nvSpPr>
        <p:spPr>
          <a:xfrm>
            <a:off x="1752950" y="3005100"/>
            <a:ext cx="6109200" cy="373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4200"/>
              <a:buNone/>
              <a:defRPr sz="1800">
                <a:solidFill>
                  <a:schemeClr val="dk2"/>
                </a:solidFill>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15" name="Google Shape;215;p14"/>
          <p:cNvSpPr txBox="1">
            <a:spLocks noGrp="1"/>
          </p:cNvSpPr>
          <p:nvPr>
            <p:ph type="subTitle" idx="1"/>
          </p:nvPr>
        </p:nvSpPr>
        <p:spPr>
          <a:xfrm>
            <a:off x="1752950" y="1764900"/>
            <a:ext cx="6109200" cy="1240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000">
                <a:solidFill>
                  <a:schemeClr val="accent3"/>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216" name="Google Shape;216;p1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17" name="Google Shape;217;p1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18" name="Google Shape;218;p1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19" name="Google Shape;219;p1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20" name="Google Shape;220;p1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21" name="Google Shape;221;p1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22" name="Google Shape;222;p1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23" name="Google Shape;223;p1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24" name="Google Shape;224;p1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25" name="Google Shape;225;p1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26" name="Google Shape;226;p1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27" name="Google Shape;227;p1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28" name="Google Shape;228;p1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29" name="Google Shape;229;p1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30"/>
        <p:cNvGrpSpPr/>
        <p:nvPr/>
      </p:nvGrpSpPr>
      <p:grpSpPr>
        <a:xfrm>
          <a:off x="0" y="0"/>
          <a:ext cx="0" cy="0"/>
          <a:chOff x="0" y="0"/>
          <a:chExt cx="0" cy="0"/>
        </a:xfrm>
      </p:grpSpPr>
      <p:sp>
        <p:nvSpPr>
          <p:cNvPr id="231" name="Google Shape;231;p15"/>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5"/>
          <p:cNvSpPr txBox="1">
            <a:spLocks noGrp="1"/>
          </p:cNvSpPr>
          <p:nvPr>
            <p:ph type="subTitle" idx="1"/>
          </p:nvPr>
        </p:nvSpPr>
        <p:spPr>
          <a:xfrm>
            <a:off x="3443750" y="3621269"/>
            <a:ext cx="5010300" cy="57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34" name="Google Shape;234;p15"/>
          <p:cNvSpPr txBox="1">
            <a:spLocks noGrp="1"/>
          </p:cNvSpPr>
          <p:nvPr>
            <p:ph type="subTitle" idx="2"/>
          </p:nvPr>
        </p:nvSpPr>
        <p:spPr>
          <a:xfrm>
            <a:off x="3051250" y="2638350"/>
            <a:ext cx="5010300" cy="57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35" name="Google Shape;235;p15"/>
          <p:cNvSpPr txBox="1">
            <a:spLocks noGrp="1"/>
          </p:cNvSpPr>
          <p:nvPr>
            <p:ph type="subTitle" idx="3"/>
          </p:nvPr>
        </p:nvSpPr>
        <p:spPr>
          <a:xfrm>
            <a:off x="3051250" y="2330425"/>
            <a:ext cx="50103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solidFill>
                  <a:schemeClr val="lt2"/>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36" name="Google Shape;236;p15"/>
          <p:cNvSpPr txBox="1">
            <a:spLocks noGrp="1"/>
          </p:cNvSpPr>
          <p:nvPr>
            <p:ph type="subTitle" idx="4"/>
          </p:nvPr>
        </p:nvSpPr>
        <p:spPr>
          <a:xfrm>
            <a:off x="2624725" y="1655450"/>
            <a:ext cx="5010300" cy="57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37" name="Google Shape;237;p15"/>
          <p:cNvSpPr txBox="1">
            <a:spLocks noGrp="1"/>
          </p:cNvSpPr>
          <p:nvPr>
            <p:ph type="subTitle" idx="5"/>
          </p:nvPr>
        </p:nvSpPr>
        <p:spPr>
          <a:xfrm>
            <a:off x="2624725" y="1347525"/>
            <a:ext cx="50103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solidFill>
                  <a:schemeClr val="accent1"/>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38" name="Google Shape;238;p15"/>
          <p:cNvSpPr txBox="1">
            <a:spLocks noGrp="1"/>
          </p:cNvSpPr>
          <p:nvPr>
            <p:ph type="subTitle" idx="6"/>
          </p:nvPr>
        </p:nvSpPr>
        <p:spPr>
          <a:xfrm>
            <a:off x="3443750" y="3313350"/>
            <a:ext cx="50103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39" name="Google Shape;239;p15"/>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40" name="Google Shape;240;p15"/>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41" name="Google Shape;241;p15"/>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42" name="Google Shape;242;p15"/>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43" name="Google Shape;243;p15"/>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44" name="Google Shape;244;p15"/>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45" name="Google Shape;245;p15"/>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46" name="Google Shape;246;p15"/>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47" name="Google Shape;247;p15"/>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48" name="Google Shape;248;p15"/>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49" name="Google Shape;249;p15"/>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50" name="Google Shape;250;p15"/>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51" name="Google Shape;251;p15"/>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52" name="Google Shape;252;p15"/>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253" name="Google Shape;253;p15"/>
          <p:cNvSpPr txBox="1">
            <a:spLocks noGrp="1"/>
          </p:cNvSpPr>
          <p:nvPr>
            <p:ph type="title"/>
          </p:nvPr>
        </p:nvSpPr>
        <p:spPr>
          <a:xfrm>
            <a:off x="1143250" y="582700"/>
            <a:ext cx="7290600" cy="5412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54"/>
        <p:cNvGrpSpPr/>
        <p:nvPr/>
      </p:nvGrpSpPr>
      <p:grpSpPr>
        <a:xfrm>
          <a:off x="0" y="0"/>
          <a:ext cx="0" cy="0"/>
          <a:chOff x="0" y="0"/>
          <a:chExt cx="0" cy="0"/>
        </a:xfrm>
      </p:grpSpPr>
      <p:sp>
        <p:nvSpPr>
          <p:cNvPr id="255" name="Google Shape;255;p16"/>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6"/>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6"/>
          <p:cNvSpPr txBox="1">
            <a:spLocks noGrp="1"/>
          </p:cNvSpPr>
          <p:nvPr>
            <p:ph type="subTitle" idx="1"/>
          </p:nvPr>
        </p:nvSpPr>
        <p:spPr>
          <a:xfrm>
            <a:off x="5596231" y="1767554"/>
            <a:ext cx="2330700" cy="646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58" name="Google Shape;258;p16"/>
          <p:cNvSpPr txBox="1">
            <a:spLocks noGrp="1"/>
          </p:cNvSpPr>
          <p:nvPr>
            <p:ph type="subTitle" idx="2"/>
          </p:nvPr>
        </p:nvSpPr>
        <p:spPr>
          <a:xfrm>
            <a:off x="2494725" y="1767558"/>
            <a:ext cx="2330700" cy="646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59" name="Google Shape;259;p16"/>
          <p:cNvSpPr txBox="1">
            <a:spLocks noGrp="1"/>
          </p:cNvSpPr>
          <p:nvPr>
            <p:ph type="subTitle" idx="3"/>
          </p:nvPr>
        </p:nvSpPr>
        <p:spPr>
          <a:xfrm>
            <a:off x="2494725" y="1389663"/>
            <a:ext cx="23307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solidFill>
                  <a:schemeClr val="accent1"/>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60" name="Google Shape;260;p16"/>
          <p:cNvSpPr txBox="1">
            <a:spLocks noGrp="1"/>
          </p:cNvSpPr>
          <p:nvPr>
            <p:ph type="subTitle" idx="4"/>
          </p:nvPr>
        </p:nvSpPr>
        <p:spPr>
          <a:xfrm>
            <a:off x="5596225" y="1389663"/>
            <a:ext cx="23307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61" name="Google Shape;261;p16"/>
          <p:cNvSpPr txBox="1">
            <a:spLocks noGrp="1"/>
          </p:cNvSpPr>
          <p:nvPr>
            <p:ph type="subTitle" idx="5"/>
          </p:nvPr>
        </p:nvSpPr>
        <p:spPr>
          <a:xfrm>
            <a:off x="6030031" y="3371329"/>
            <a:ext cx="2330700" cy="646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62" name="Google Shape;262;p16"/>
          <p:cNvSpPr txBox="1">
            <a:spLocks noGrp="1"/>
          </p:cNvSpPr>
          <p:nvPr>
            <p:ph type="subTitle" idx="6"/>
          </p:nvPr>
        </p:nvSpPr>
        <p:spPr>
          <a:xfrm>
            <a:off x="2928525" y="3371333"/>
            <a:ext cx="2330700" cy="646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endParaRPr/>
          </a:p>
        </p:txBody>
      </p:sp>
      <p:sp>
        <p:nvSpPr>
          <p:cNvPr id="263" name="Google Shape;263;p16"/>
          <p:cNvSpPr txBox="1">
            <a:spLocks noGrp="1"/>
          </p:cNvSpPr>
          <p:nvPr>
            <p:ph type="subTitle" idx="7"/>
          </p:nvPr>
        </p:nvSpPr>
        <p:spPr>
          <a:xfrm>
            <a:off x="2928525" y="2993438"/>
            <a:ext cx="23307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solidFill>
                  <a:schemeClr val="lt2"/>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64" name="Google Shape;264;p16"/>
          <p:cNvSpPr txBox="1">
            <a:spLocks noGrp="1"/>
          </p:cNvSpPr>
          <p:nvPr>
            <p:ph type="subTitle" idx="8"/>
          </p:nvPr>
        </p:nvSpPr>
        <p:spPr>
          <a:xfrm>
            <a:off x="6030025" y="2993438"/>
            <a:ext cx="2330700" cy="33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000">
                <a:solidFill>
                  <a:schemeClr val="accent2"/>
                </a:solidFill>
              </a:defRPr>
            </a:lvl1pPr>
            <a:lvl2pPr lvl="1" rtl="0">
              <a:spcBef>
                <a:spcPts val="0"/>
              </a:spcBef>
              <a:spcAft>
                <a:spcPts val="0"/>
              </a:spcAft>
              <a:buClr>
                <a:schemeClr val="dk1"/>
              </a:buClr>
              <a:buSzPts val="2000"/>
              <a:buNone/>
              <a:defRPr sz="2000">
                <a:solidFill>
                  <a:schemeClr val="dk1"/>
                </a:solidFill>
              </a:defRPr>
            </a:lvl2pPr>
            <a:lvl3pPr lvl="2" rtl="0">
              <a:spcBef>
                <a:spcPts val="0"/>
              </a:spcBef>
              <a:spcAft>
                <a:spcPts val="0"/>
              </a:spcAft>
              <a:buClr>
                <a:schemeClr val="dk1"/>
              </a:buClr>
              <a:buSzPts val="2000"/>
              <a:buNone/>
              <a:defRPr sz="2000">
                <a:solidFill>
                  <a:schemeClr val="dk1"/>
                </a:solidFill>
              </a:defRPr>
            </a:lvl3pPr>
            <a:lvl4pPr lvl="3" rtl="0">
              <a:spcBef>
                <a:spcPts val="0"/>
              </a:spcBef>
              <a:spcAft>
                <a:spcPts val="0"/>
              </a:spcAft>
              <a:buClr>
                <a:schemeClr val="dk1"/>
              </a:buClr>
              <a:buSzPts val="2000"/>
              <a:buNone/>
              <a:defRPr sz="2000">
                <a:solidFill>
                  <a:schemeClr val="dk1"/>
                </a:solidFill>
              </a:defRPr>
            </a:lvl4pPr>
            <a:lvl5pPr lvl="4" rtl="0">
              <a:spcBef>
                <a:spcPts val="0"/>
              </a:spcBef>
              <a:spcAft>
                <a:spcPts val="0"/>
              </a:spcAft>
              <a:buClr>
                <a:schemeClr val="dk1"/>
              </a:buClr>
              <a:buSzPts val="2000"/>
              <a:buNone/>
              <a:defRPr sz="2000">
                <a:solidFill>
                  <a:schemeClr val="dk1"/>
                </a:solidFill>
              </a:defRPr>
            </a:lvl5pPr>
            <a:lvl6pPr lvl="5" rtl="0">
              <a:spcBef>
                <a:spcPts val="0"/>
              </a:spcBef>
              <a:spcAft>
                <a:spcPts val="0"/>
              </a:spcAft>
              <a:buClr>
                <a:schemeClr val="dk1"/>
              </a:buClr>
              <a:buSzPts val="2000"/>
              <a:buNone/>
              <a:defRPr sz="2000">
                <a:solidFill>
                  <a:schemeClr val="dk1"/>
                </a:solidFill>
              </a:defRPr>
            </a:lvl6pPr>
            <a:lvl7pPr lvl="6" rtl="0">
              <a:spcBef>
                <a:spcPts val="0"/>
              </a:spcBef>
              <a:spcAft>
                <a:spcPts val="0"/>
              </a:spcAft>
              <a:buClr>
                <a:schemeClr val="dk1"/>
              </a:buClr>
              <a:buSzPts val="2000"/>
              <a:buNone/>
              <a:defRPr sz="2000">
                <a:solidFill>
                  <a:schemeClr val="dk1"/>
                </a:solidFill>
              </a:defRPr>
            </a:lvl7pPr>
            <a:lvl8pPr lvl="7" rtl="0">
              <a:spcBef>
                <a:spcPts val="0"/>
              </a:spcBef>
              <a:spcAft>
                <a:spcPts val="0"/>
              </a:spcAft>
              <a:buClr>
                <a:schemeClr val="dk1"/>
              </a:buClr>
              <a:buSzPts val="2000"/>
              <a:buNone/>
              <a:defRPr sz="2000">
                <a:solidFill>
                  <a:schemeClr val="dk1"/>
                </a:solidFill>
              </a:defRPr>
            </a:lvl8pPr>
            <a:lvl9pPr lvl="8" rtl="0">
              <a:spcBef>
                <a:spcPts val="0"/>
              </a:spcBef>
              <a:spcAft>
                <a:spcPts val="0"/>
              </a:spcAft>
              <a:buClr>
                <a:schemeClr val="dk1"/>
              </a:buClr>
              <a:buSzPts val="2000"/>
              <a:buNone/>
              <a:defRPr sz="2000">
                <a:solidFill>
                  <a:schemeClr val="dk1"/>
                </a:solidFill>
              </a:defRPr>
            </a:lvl9pPr>
          </a:lstStyle>
          <a:p>
            <a:endParaRPr/>
          </a:p>
        </p:txBody>
      </p:sp>
      <p:sp>
        <p:nvSpPr>
          <p:cNvPr id="265" name="Google Shape;265;p16"/>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266" name="Google Shape;266;p16"/>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267" name="Google Shape;267;p16"/>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268" name="Google Shape;268;p16"/>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269" name="Google Shape;269;p16"/>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270" name="Google Shape;270;p16"/>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271" name="Google Shape;271;p16"/>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272" name="Google Shape;272;p16"/>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273" name="Google Shape;273;p16"/>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274" name="Google Shape;274;p16"/>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275" name="Google Shape;275;p16"/>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276" name="Google Shape;276;p16"/>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277" name="Google Shape;277;p16"/>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278" name="Google Shape;278;p16"/>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279" name="Google Shape;279;p16"/>
          <p:cNvSpPr txBox="1">
            <a:spLocks noGrp="1"/>
          </p:cNvSpPr>
          <p:nvPr>
            <p:ph type="title"/>
          </p:nvPr>
        </p:nvSpPr>
        <p:spPr>
          <a:xfrm>
            <a:off x="1143250" y="582700"/>
            <a:ext cx="7290600" cy="5412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7">
    <p:spTree>
      <p:nvGrpSpPr>
        <p:cNvPr id="1" name="Shape 310"/>
        <p:cNvGrpSpPr/>
        <p:nvPr/>
      </p:nvGrpSpPr>
      <p:grpSpPr>
        <a:xfrm>
          <a:off x="0" y="0"/>
          <a:ext cx="0" cy="0"/>
          <a:chOff x="0" y="0"/>
          <a:chExt cx="0" cy="0"/>
        </a:xfrm>
      </p:grpSpPr>
      <p:sp>
        <p:nvSpPr>
          <p:cNvPr id="311" name="Google Shape;311;p18"/>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8"/>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8"/>
          <p:cNvSpPr txBox="1">
            <a:spLocks noGrp="1"/>
          </p:cNvSpPr>
          <p:nvPr>
            <p:ph type="title" hasCustomPrompt="1"/>
          </p:nvPr>
        </p:nvSpPr>
        <p:spPr>
          <a:xfrm>
            <a:off x="1134200" y="686250"/>
            <a:ext cx="5341200" cy="6375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5000">
                <a:solidFill>
                  <a:schemeClr val="dk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14" name="Google Shape;314;p18"/>
          <p:cNvSpPr txBox="1">
            <a:spLocks noGrp="1"/>
          </p:cNvSpPr>
          <p:nvPr>
            <p:ph type="subTitle" idx="1"/>
          </p:nvPr>
        </p:nvSpPr>
        <p:spPr>
          <a:xfrm>
            <a:off x="1664475" y="1323750"/>
            <a:ext cx="4810800" cy="398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1800">
                <a:solidFill>
                  <a:schemeClr val="accent3"/>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15" name="Google Shape;315;p18"/>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316" name="Google Shape;316;p18"/>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317" name="Google Shape;317;p18"/>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318" name="Google Shape;318;p18"/>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319" name="Google Shape;319;p18"/>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320" name="Google Shape;320;p18"/>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321" name="Google Shape;321;p18"/>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322" name="Google Shape;322;p18"/>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323" name="Google Shape;323;p18"/>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324" name="Google Shape;324;p18"/>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325" name="Google Shape;325;p18"/>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326" name="Google Shape;326;p18"/>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327" name="Google Shape;327;p18"/>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328" name="Google Shape;328;p18"/>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
        <p:nvSpPr>
          <p:cNvPr id="329" name="Google Shape;329;p18"/>
          <p:cNvSpPr txBox="1">
            <a:spLocks noGrp="1"/>
          </p:cNvSpPr>
          <p:nvPr>
            <p:ph type="title" idx="2" hasCustomPrompt="1"/>
          </p:nvPr>
        </p:nvSpPr>
        <p:spPr>
          <a:xfrm>
            <a:off x="2100875" y="2016175"/>
            <a:ext cx="51060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2"/>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30" name="Google Shape;330;p18"/>
          <p:cNvSpPr txBox="1">
            <a:spLocks noGrp="1"/>
          </p:cNvSpPr>
          <p:nvPr>
            <p:ph type="subTitle" idx="3"/>
          </p:nvPr>
        </p:nvSpPr>
        <p:spPr>
          <a:xfrm>
            <a:off x="2100875" y="2506366"/>
            <a:ext cx="5106000" cy="398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1600">
                <a:solidFill>
                  <a:schemeClr val="accent3"/>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331" name="Google Shape;331;p18"/>
          <p:cNvSpPr txBox="1">
            <a:spLocks noGrp="1"/>
          </p:cNvSpPr>
          <p:nvPr>
            <p:ph type="title" idx="4" hasCustomPrompt="1"/>
          </p:nvPr>
        </p:nvSpPr>
        <p:spPr>
          <a:xfrm>
            <a:off x="2100875" y="3013959"/>
            <a:ext cx="5106000" cy="4902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accen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332" name="Google Shape;332;p18"/>
          <p:cNvSpPr txBox="1">
            <a:spLocks noGrp="1"/>
          </p:cNvSpPr>
          <p:nvPr>
            <p:ph type="subTitle" idx="5"/>
          </p:nvPr>
        </p:nvSpPr>
        <p:spPr>
          <a:xfrm>
            <a:off x="2100875" y="3504150"/>
            <a:ext cx="5106000" cy="398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1600">
                <a:solidFill>
                  <a:schemeClr val="accent3"/>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
  <p:cSld name="CUSTOM_9">
    <p:spTree>
      <p:nvGrpSpPr>
        <p:cNvPr id="1" name="Shape 416"/>
        <p:cNvGrpSpPr/>
        <p:nvPr/>
      </p:nvGrpSpPr>
      <p:grpSpPr>
        <a:xfrm>
          <a:off x="0" y="0"/>
          <a:ext cx="0" cy="0"/>
          <a:chOff x="0" y="0"/>
          <a:chExt cx="0" cy="0"/>
        </a:xfrm>
      </p:grpSpPr>
      <p:sp>
        <p:nvSpPr>
          <p:cNvPr id="417" name="Google Shape;417;p23"/>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3"/>
          <p:cNvSpPr/>
          <p:nvPr/>
        </p:nvSpPr>
        <p:spPr>
          <a:xfrm>
            <a:off x="457200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3"/>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420" name="Google Shape;420;p23"/>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421" name="Google Shape;421;p23"/>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422" name="Google Shape;422;p23"/>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423" name="Google Shape;423;p23"/>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424" name="Google Shape;424;p23"/>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425" name="Google Shape;425;p23"/>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426" name="Google Shape;426;p23"/>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427" name="Google Shape;427;p23"/>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428" name="Google Shape;428;p23"/>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429" name="Google Shape;429;p23"/>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430" name="Google Shape;430;p23"/>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431" name="Google Shape;431;p23"/>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432" name="Google Shape;432;p23"/>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2">
    <p:spTree>
      <p:nvGrpSpPr>
        <p:cNvPr id="1" name="Shape 433"/>
        <p:cNvGrpSpPr/>
        <p:nvPr/>
      </p:nvGrpSpPr>
      <p:grpSpPr>
        <a:xfrm>
          <a:off x="0" y="0"/>
          <a:ext cx="0" cy="0"/>
          <a:chOff x="0" y="0"/>
          <a:chExt cx="0" cy="0"/>
        </a:xfrm>
      </p:grpSpPr>
      <p:sp>
        <p:nvSpPr>
          <p:cNvPr id="434" name="Google Shape;434;p24"/>
          <p:cNvSpPr/>
          <p:nvPr/>
        </p:nvSpPr>
        <p:spPr>
          <a:xfrm>
            <a:off x="0" y="542575"/>
            <a:ext cx="9144000" cy="4058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4"/>
          <p:cNvSpPr/>
          <p:nvPr/>
        </p:nvSpPr>
        <p:spPr>
          <a:xfrm>
            <a:off x="0" y="0"/>
            <a:ext cx="4572000" cy="6264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4"/>
          <p:cNvSpPr txBox="1"/>
          <p:nvPr/>
        </p:nvSpPr>
        <p:spPr>
          <a:xfrm>
            <a:off x="710125" y="745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a:t>
            </a:r>
            <a:endParaRPr>
              <a:solidFill>
                <a:srgbClr val="707070"/>
              </a:solidFill>
              <a:latin typeface="Fira Code"/>
              <a:ea typeface="Fira Code"/>
              <a:cs typeface="Fira Code"/>
              <a:sym typeface="Fira Code"/>
            </a:endParaRPr>
          </a:p>
        </p:txBody>
      </p:sp>
      <p:sp>
        <p:nvSpPr>
          <p:cNvPr id="437" name="Google Shape;437;p24"/>
          <p:cNvSpPr txBox="1"/>
          <p:nvPr/>
        </p:nvSpPr>
        <p:spPr>
          <a:xfrm>
            <a:off x="710125" y="1009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2</a:t>
            </a:r>
            <a:endParaRPr>
              <a:solidFill>
                <a:srgbClr val="707070"/>
              </a:solidFill>
              <a:latin typeface="Fira Code"/>
              <a:ea typeface="Fira Code"/>
              <a:cs typeface="Fira Code"/>
              <a:sym typeface="Fira Code"/>
            </a:endParaRPr>
          </a:p>
        </p:txBody>
      </p:sp>
      <p:sp>
        <p:nvSpPr>
          <p:cNvPr id="438" name="Google Shape;438;p24"/>
          <p:cNvSpPr txBox="1"/>
          <p:nvPr/>
        </p:nvSpPr>
        <p:spPr>
          <a:xfrm>
            <a:off x="710125" y="1273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3</a:t>
            </a:r>
            <a:endParaRPr>
              <a:solidFill>
                <a:srgbClr val="707070"/>
              </a:solidFill>
              <a:latin typeface="Fira Code"/>
              <a:ea typeface="Fira Code"/>
              <a:cs typeface="Fira Code"/>
              <a:sym typeface="Fira Code"/>
            </a:endParaRPr>
          </a:p>
        </p:txBody>
      </p:sp>
      <p:sp>
        <p:nvSpPr>
          <p:cNvPr id="439" name="Google Shape;439;p24"/>
          <p:cNvSpPr txBox="1"/>
          <p:nvPr/>
        </p:nvSpPr>
        <p:spPr>
          <a:xfrm>
            <a:off x="710125" y="1537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4</a:t>
            </a:r>
            <a:endParaRPr>
              <a:solidFill>
                <a:srgbClr val="707070"/>
              </a:solidFill>
              <a:latin typeface="Fira Code"/>
              <a:ea typeface="Fira Code"/>
              <a:cs typeface="Fira Code"/>
              <a:sym typeface="Fira Code"/>
            </a:endParaRPr>
          </a:p>
        </p:txBody>
      </p:sp>
      <p:sp>
        <p:nvSpPr>
          <p:cNvPr id="440" name="Google Shape;440;p24"/>
          <p:cNvSpPr txBox="1"/>
          <p:nvPr/>
        </p:nvSpPr>
        <p:spPr>
          <a:xfrm>
            <a:off x="710125" y="18007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5</a:t>
            </a:r>
            <a:endParaRPr>
              <a:solidFill>
                <a:srgbClr val="707070"/>
              </a:solidFill>
              <a:latin typeface="Fira Code"/>
              <a:ea typeface="Fira Code"/>
              <a:cs typeface="Fira Code"/>
              <a:sym typeface="Fira Code"/>
            </a:endParaRPr>
          </a:p>
        </p:txBody>
      </p:sp>
      <p:sp>
        <p:nvSpPr>
          <p:cNvPr id="441" name="Google Shape;441;p24"/>
          <p:cNvSpPr txBox="1"/>
          <p:nvPr/>
        </p:nvSpPr>
        <p:spPr>
          <a:xfrm>
            <a:off x="710125" y="20644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6</a:t>
            </a:r>
            <a:endParaRPr>
              <a:solidFill>
                <a:srgbClr val="707070"/>
              </a:solidFill>
              <a:latin typeface="Fira Code"/>
              <a:ea typeface="Fira Code"/>
              <a:cs typeface="Fira Code"/>
              <a:sym typeface="Fira Code"/>
            </a:endParaRPr>
          </a:p>
        </p:txBody>
      </p:sp>
      <p:sp>
        <p:nvSpPr>
          <p:cNvPr id="442" name="Google Shape;442;p24"/>
          <p:cNvSpPr txBox="1"/>
          <p:nvPr/>
        </p:nvSpPr>
        <p:spPr>
          <a:xfrm>
            <a:off x="710125" y="23281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7</a:t>
            </a:r>
            <a:endParaRPr>
              <a:solidFill>
                <a:srgbClr val="707070"/>
              </a:solidFill>
              <a:latin typeface="Fira Code"/>
              <a:ea typeface="Fira Code"/>
              <a:cs typeface="Fira Code"/>
              <a:sym typeface="Fira Code"/>
            </a:endParaRPr>
          </a:p>
        </p:txBody>
      </p:sp>
      <p:sp>
        <p:nvSpPr>
          <p:cNvPr id="443" name="Google Shape;443;p24"/>
          <p:cNvSpPr txBox="1"/>
          <p:nvPr/>
        </p:nvSpPr>
        <p:spPr>
          <a:xfrm>
            <a:off x="710125" y="25918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8</a:t>
            </a:r>
            <a:endParaRPr>
              <a:solidFill>
                <a:srgbClr val="707070"/>
              </a:solidFill>
              <a:latin typeface="Fira Code"/>
              <a:ea typeface="Fira Code"/>
              <a:cs typeface="Fira Code"/>
              <a:sym typeface="Fira Code"/>
            </a:endParaRPr>
          </a:p>
        </p:txBody>
      </p:sp>
      <p:sp>
        <p:nvSpPr>
          <p:cNvPr id="444" name="Google Shape;444;p24"/>
          <p:cNvSpPr txBox="1"/>
          <p:nvPr/>
        </p:nvSpPr>
        <p:spPr>
          <a:xfrm>
            <a:off x="710125" y="28555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9</a:t>
            </a:r>
            <a:endParaRPr>
              <a:solidFill>
                <a:srgbClr val="707070"/>
              </a:solidFill>
              <a:latin typeface="Fira Code"/>
              <a:ea typeface="Fira Code"/>
              <a:cs typeface="Fira Code"/>
              <a:sym typeface="Fira Code"/>
            </a:endParaRPr>
          </a:p>
        </p:txBody>
      </p:sp>
      <p:sp>
        <p:nvSpPr>
          <p:cNvPr id="445" name="Google Shape;445;p24"/>
          <p:cNvSpPr txBox="1"/>
          <p:nvPr/>
        </p:nvSpPr>
        <p:spPr>
          <a:xfrm>
            <a:off x="710125" y="31192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10</a:t>
            </a:r>
            <a:endParaRPr>
              <a:solidFill>
                <a:srgbClr val="707070"/>
              </a:solidFill>
              <a:latin typeface="Fira Code"/>
              <a:ea typeface="Fira Code"/>
              <a:cs typeface="Fira Code"/>
              <a:sym typeface="Fira Code"/>
            </a:endParaRPr>
          </a:p>
        </p:txBody>
      </p:sp>
      <p:sp>
        <p:nvSpPr>
          <p:cNvPr id="446" name="Google Shape;446;p24"/>
          <p:cNvSpPr txBox="1"/>
          <p:nvPr/>
        </p:nvSpPr>
        <p:spPr>
          <a:xfrm>
            <a:off x="710125" y="33829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11</a:t>
            </a:r>
            <a:endParaRPr>
              <a:solidFill>
                <a:srgbClr val="707070"/>
              </a:solidFill>
              <a:latin typeface="Fira Code"/>
              <a:ea typeface="Fira Code"/>
              <a:cs typeface="Fira Code"/>
              <a:sym typeface="Fira Code"/>
            </a:endParaRPr>
          </a:p>
        </p:txBody>
      </p:sp>
      <p:sp>
        <p:nvSpPr>
          <p:cNvPr id="447" name="Google Shape;447;p24"/>
          <p:cNvSpPr txBox="1"/>
          <p:nvPr/>
        </p:nvSpPr>
        <p:spPr>
          <a:xfrm>
            <a:off x="710125" y="36466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12</a:t>
            </a:r>
            <a:endParaRPr>
              <a:solidFill>
                <a:srgbClr val="707070"/>
              </a:solidFill>
              <a:latin typeface="Fira Code"/>
              <a:ea typeface="Fira Code"/>
              <a:cs typeface="Fira Code"/>
              <a:sym typeface="Fira Code"/>
            </a:endParaRPr>
          </a:p>
        </p:txBody>
      </p:sp>
      <p:sp>
        <p:nvSpPr>
          <p:cNvPr id="448" name="Google Shape;448;p24"/>
          <p:cNvSpPr txBox="1"/>
          <p:nvPr/>
        </p:nvSpPr>
        <p:spPr>
          <a:xfrm>
            <a:off x="710125" y="39103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13</a:t>
            </a:r>
            <a:endParaRPr>
              <a:solidFill>
                <a:srgbClr val="707070"/>
              </a:solidFill>
              <a:latin typeface="Fira Code"/>
              <a:ea typeface="Fira Code"/>
              <a:cs typeface="Fira Code"/>
              <a:sym typeface="Fira Code"/>
            </a:endParaRPr>
          </a:p>
        </p:txBody>
      </p:sp>
      <p:sp>
        <p:nvSpPr>
          <p:cNvPr id="449" name="Google Shape;449;p24"/>
          <p:cNvSpPr txBox="1"/>
          <p:nvPr/>
        </p:nvSpPr>
        <p:spPr>
          <a:xfrm>
            <a:off x="710125" y="4174050"/>
            <a:ext cx="429000" cy="223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rgbClr val="707070"/>
                </a:solidFill>
                <a:latin typeface="Fira Code"/>
                <a:ea typeface="Fira Code"/>
                <a:cs typeface="Fira Code"/>
                <a:sym typeface="Fira Code"/>
              </a:rPr>
              <a:t>14</a:t>
            </a:r>
            <a:endParaRPr>
              <a:solidFill>
                <a:srgbClr val="707070"/>
              </a:solidFill>
              <a:latin typeface="Fira Code"/>
              <a:ea typeface="Fira Code"/>
              <a:cs typeface="Fira Code"/>
              <a:sym typeface="Fira Code"/>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Fira Code"/>
              <a:buNone/>
              <a:defRPr sz="2800">
                <a:solidFill>
                  <a:schemeClr val="lt1"/>
                </a:solidFill>
                <a:latin typeface="Fira Code"/>
                <a:ea typeface="Fira Code"/>
                <a:cs typeface="Fira Code"/>
                <a:sym typeface="Fira Code"/>
              </a:defRPr>
            </a:lvl1pPr>
            <a:lvl2pPr lvl="1">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2pPr>
            <a:lvl3pPr lvl="2">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3pPr>
            <a:lvl4pPr lvl="3">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4pPr>
            <a:lvl5pPr lvl="4">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5pPr>
            <a:lvl6pPr lvl="5">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6pPr>
            <a:lvl7pPr lvl="6">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7pPr>
            <a:lvl8pPr lvl="7">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8pPr>
            <a:lvl9pPr lvl="8">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1pPr>
            <a:lvl2pPr marL="914400" lvl="1"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2pPr>
            <a:lvl3pPr marL="1371600" lvl="2"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3pPr>
            <a:lvl4pPr marL="1828800" lvl="3"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4pPr>
            <a:lvl5pPr marL="2286000" lvl="4"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5pPr>
            <a:lvl6pPr marL="2743200" lvl="5"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6pPr>
            <a:lvl7pPr marL="3200400" lvl="6"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7pPr>
            <a:lvl8pPr marL="3657600" lvl="7"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8pPr>
            <a:lvl9pPr marL="4114800" lvl="8"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8" r:id="rId7"/>
    <p:sldLayoutId id="2147483660" r:id="rId8"/>
    <p:sldLayoutId id="2147483661" r:id="rId9"/>
    <p:sldLayoutId id="2147483662" r:id="rId10"/>
    <p:sldLayoutId id="2147483664" r:id="rId11"/>
    <p:sldLayoutId id="2147483669" r:id="rId12"/>
    <p:sldLayoutId id="214748367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7"/>
          <p:cNvSpPr txBox="1">
            <a:spLocks noGrp="1"/>
          </p:cNvSpPr>
          <p:nvPr>
            <p:ph type="ctrTitle"/>
          </p:nvPr>
        </p:nvSpPr>
        <p:spPr>
          <a:xfrm>
            <a:off x="1413525" y="1010900"/>
            <a:ext cx="7264647" cy="5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200" dirty="0"/>
              <a:t>Predicting Sales for ABC </a:t>
            </a:r>
            <a:r>
              <a:rPr lang="en" sz="3200" dirty="0">
                <a:solidFill>
                  <a:schemeClr val="accent3"/>
                </a:solidFill>
              </a:rPr>
              <a:t>{</a:t>
            </a:r>
            <a:endParaRPr sz="3200" dirty="0">
              <a:solidFill>
                <a:schemeClr val="accent3"/>
              </a:solidFill>
            </a:endParaRPr>
          </a:p>
        </p:txBody>
      </p:sp>
      <p:sp>
        <p:nvSpPr>
          <p:cNvPr id="459" name="Google Shape;459;p27"/>
          <p:cNvSpPr txBox="1">
            <a:spLocks noGrp="1"/>
          </p:cNvSpPr>
          <p:nvPr>
            <p:ph type="subTitle" idx="1"/>
          </p:nvPr>
        </p:nvSpPr>
        <p:spPr>
          <a:xfrm>
            <a:off x="2094857" y="2442210"/>
            <a:ext cx="5022223" cy="169039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dirty="0"/>
              <a:t>{ by: </a:t>
            </a:r>
            <a:r>
              <a:rPr lang="en-GB" altLang="zh-TW" sz="1400" dirty="0"/>
              <a:t>“Bansi Kamani” </a:t>
            </a:r>
            <a:r>
              <a:rPr lang="en" sz="1400" dirty="0"/>
              <a:t>}</a:t>
            </a:r>
          </a:p>
          <a:p>
            <a:pPr marL="0" lvl="0" indent="0" algn="l" rtl="0">
              <a:spcBef>
                <a:spcPts val="0"/>
              </a:spcBef>
              <a:spcAft>
                <a:spcPts val="0"/>
              </a:spcAft>
              <a:buNone/>
            </a:pPr>
            <a:endParaRPr sz="1400" dirty="0"/>
          </a:p>
        </p:txBody>
      </p:sp>
      <p:sp>
        <p:nvSpPr>
          <p:cNvPr id="461" name="Google Shape;461;p27"/>
          <p:cNvSpPr txBox="1">
            <a:spLocks noGrp="1"/>
          </p:cNvSpPr>
          <p:nvPr>
            <p:ph type="subTitle" idx="2"/>
          </p:nvPr>
        </p:nvSpPr>
        <p:spPr>
          <a:xfrm>
            <a:off x="1984849" y="1655131"/>
            <a:ext cx="6693323" cy="46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800" dirty="0">
                <a:solidFill>
                  <a:schemeClr val="accent6"/>
                </a:solidFill>
              </a:rPr>
              <a:t>“</a:t>
            </a:r>
            <a:r>
              <a:rPr lang="en-GB" sz="2800" dirty="0">
                <a:solidFill>
                  <a:schemeClr val="accent1"/>
                </a:solidFill>
              </a:rPr>
              <a:t>using</a:t>
            </a:r>
            <a:r>
              <a:rPr lang="en" sz="2800" dirty="0">
                <a:solidFill>
                  <a:schemeClr val="accent1"/>
                </a:solidFill>
              </a:rPr>
              <a:t> </a:t>
            </a:r>
            <a:r>
              <a:rPr lang="en-US" altLang="zh-TW" sz="2800" dirty="0">
                <a:solidFill>
                  <a:schemeClr val="accent2"/>
                </a:solidFill>
              </a:rPr>
              <a:t>‘Python’</a:t>
            </a:r>
            <a:r>
              <a:rPr lang="en" sz="2800" dirty="0">
                <a:solidFill>
                  <a:schemeClr val="accent6"/>
                </a:solidFill>
              </a:rPr>
              <a:t>”: </a:t>
            </a:r>
            <a:endParaRPr sz="2800" dirty="0">
              <a:solidFill>
                <a:schemeClr val="accent6"/>
              </a:solidFill>
            </a:endParaRPr>
          </a:p>
        </p:txBody>
      </p:sp>
      <p:grpSp>
        <p:nvGrpSpPr>
          <p:cNvPr id="462" name="Google Shape;462;p27"/>
          <p:cNvGrpSpPr/>
          <p:nvPr/>
        </p:nvGrpSpPr>
        <p:grpSpPr>
          <a:xfrm>
            <a:off x="1413525" y="2031253"/>
            <a:ext cx="506100" cy="2555457"/>
            <a:chOff x="1413525" y="1812866"/>
            <a:chExt cx="506100" cy="2812282"/>
          </a:xfrm>
        </p:grpSpPr>
        <p:cxnSp>
          <p:nvCxnSpPr>
            <p:cNvPr id="463" name="Google Shape;463;p27"/>
            <p:cNvCxnSpPr>
              <a:cxnSpLocks/>
            </p:cNvCxnSpPr>
            <p:nvPr/>
          </p:nvCxnSpPr>
          <p:spPr>
            <a:xfrm>
              <a:off x="1567465" y="1812866"/>
              <a:ext cx="0" cy="2079022"/>
            </a:xfrm>
            <a:prstGeom prst="straightConnector1">
              <a:avLst/>
            </a:prstGeom>
            <a:noFill/>
            <a:ln w="9525" cap="flat" cmpd="sng">
              <a:solidFill>
                <a:schemeClr val="accent4"/>
              </a:solidFill>
              <a:prstDash val="solid"/>
              <a:round/>
              <a:headEnd type="none" w="med" len="med"/>
              <a:tailEnd type="none" w="med" len="med"/>
            </a:ln>
          </p:spPr>
        </p:cxnSp>
        <p:sp>
          <p:nvSpPr>
            <p:cNvPr id="464" name="Google Shape;464;p27"/>
            <p:cNvSpPr txBox="1"/>
            <p:nvPr/>
          </p:nvSpPr>
          <p:spPr>
            <a:xfrm>
              <a:off x="1413525" y="3978648"/>
              <a:ext cx="506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accent3"/>
                  </a:solidFill>
                  <a:latin typeface="Fira Code"/>
                  <a:ea typeface="Fira Code"/>
                  <a:cs typeface="Fira Code"/>
                  <a:sym typeface="Fira Code"/>
                </a:rPr>
                <a:t>}</a:t>
              </a:r>
              <a:endParaRPr sz="3000">
                <a:solidFill>
                  <a:schemeClr val="accent3"/>
                </a:solidFill>
                <a:latin typeface="Fira Code"/>
                <a:ea typeface="Fira Code"/>
                <a:cs typeface="Fira Code"/>
                <a:sym typeface="Fira Code"/>
              </a:endParaRPr>
            </a:p>
          </p:txBody>
        </p:sp>
      </p:grpSp>
      <p:sp>
        <p:nvSpPr>
          <p:cNvPr id="466" name="Google Shape;466;p27"/>
          <p:cNvSpPr txBox="1">
            <a:spLocks noGrp="1"/>
          </p:cNvSpPr>
          <p:nvPr>
            <p:ph type="subTitle" idx="1"/>
          </p:nvPr>
        </p:nvSpPr>
        <p:spPr>
          <a:xfrm>
            <a:off x="4577977"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accent3"/>
                </a:solidFill>
              </a:rPr>
              <a:t>Table</a:t>
            </a:r>
            <a:endParaRPr sz="1600">
              <a:solidFill>
                <a:schemeClr val="accent3"/>
              </a:solidFill>
            </a:endParaRPr>
          </a:p>
        </p:txBody>
      </p:sp>
      <p:sp>
        <p:nvSpPr>
          <p:cNvPr id="4" name="Google Shape;460;p27">
            <a:extLst>
              <a:ext uri="{FF2B5EF4-FFF2-40B4-BE49-F238E27FC236}">
                <a16:creationId xmlns:a16="http://schemas.microsoft.com/office/drawing/2014/main" id="{4B520CBB-16D0-7907-A8A9-E66BB9C7CAB3}"/>
              </a:ext>
            </a:extLst>
          </p:cNvPr>
          <p:cNvSpPr txBox="1">
            <a:spLocks/>
          </p:cNvSpPr>
          <p:nvPr/>
        </p:nvSpPr>
        <p:spPr>
          <a:xfrm>
            <a:off x="1197948" y="91525"/>
            <a:ext cx="2066154"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lgn="ctr"/>
            <a:r>
              <a:rPr lang="en-GB" altLang="zh-TW" sz="1600"/>
              <a:t>BMAN73701</a:t>
            </a:r>
          </a:p>
        </p:txBody>
      </p:sp>
      <p:sp>
        <p:nvSpPr>
          <p:cNvPr id="3" name="Google Shape;459;p27">
            <a:extLst>
              <a:ext uri="{FF2B5EF4-FFF2-40B4-BE49-F238E27FC236}">
                <a16:creationId xmlns:a16="http://schemas.microsoft.com/office/drawing/2014/main" id="{67FC1151-B319-5F83-6BFF-7B9CC81F948B}"/>
              </a:ext>
            </a:extLst>
          </p:cNvPr>
          <p:cNvSpPr txBox="1">
            <a:spLocks/>
          </p:cNvSpPr>
          <p:nvPr/>
        </p:nvSpPr>
        <p:spPr>
          <a:xfrm>
            <a:off x="6715475" y="4731275"/>
            <a:ext cx="2446020" cy="3777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800"/>
              <a:buFont typeface="Fira Code"/>
              <a:buNone/>
              <a:defRPr sz="1800" b="0" i="0" u="none" strike="noStrike" cap="none">
                <a:solidFill>
                  <a:schemeClr val="accent3"/>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800"/>
              <a:buFont typeface="Fira Code"/>
              <a:buNone/>
              <a:defRPr sz="2800" b="0" i="0" u="none" strike="noStrike" cap="none">
                <a:solidFill>
                  <a:schemeClr val="dk2"/>
                </a:solidFill>
                <a:latin typeface="Fira Code"/>
                <a:ea typeface="Fira Code"/>
                <a:cs typeface="Fira Code"/>
                <a:sym typeface="Fira Code"/>
              </a:defRPr>
            </a:lvl9pPr>
          </a:lstStyle>
          <a:p>
            <a:pPr marL="0" indent="0"/>
            <a:r>
              <a:rPr lang="en-US" sz="1200" dirty="0"/>
              <a:t>Date: 6</a:t>
            </a:r>
            <a:r>
              <a:rPr lang="en-US" sz="1200" baseline="30000" dirty="0"/>
              <a:t>th</a:t>
            </a:r>
            <a:r>
              <a:rPr lang="en-US" sz="1200" dirty="0"/>
              <a:t> December,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45" name="Google Shape;515;p31">
            <a:extLst>
              <a:ext uri="{FF2B5EF4-FFF2-40B4-BE49-F238E27FC236}">
                <a16:creationId xmlns:a16="http://schemas.microsoft.com/office/drawing/2014/main" id="{132E35F7-5CA7-5598-B8E4-B6949CC0B55E}"/>
              </a:ext>
            </a:extLst>
          </p:cNvPr>
          <p:cNvSpPr txBox="1">
            <a:spLocks noGrp="1"/>
          </p:cNvSpPr>
          <p:nvPr>
            <p:ph type="title"/>
          </p:nvPr>
        </p:nvSpPr>
        <p:spPr>
          <a:xfrm>
            <a:off x="1249294" y="2415415"/>
            <a:ext cx="3407888" cy="53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800">
                <a:solidFill>
                  <a:schemeClr val="bg1"/>
                </a:solidFill>
              </a:rPr>
              <a:t>i</a:t>
            </a:r>
            <a:r>
              <a:rPr lang="en" sz="1800">
                <a:solidFill>
                  <a:schemeClr val="bg1"/>
                </a:solidFill>
              </a:rPr>
              <a:t>f </a:t>
            </a:r>
            <a:r>
              <a:rPr lang="en" sz="1600">
                <a:solidFill>
                  <a:schemeClr val="accent6"/>
                </a:solidFill>
              </a:rPr>
              <a:t>Higher Prediction:</a:t>
            </a:r>
            <a:endParaRPr sz="1800">
              <a:solidFill>
                <a:schemeClr val="accent6"/>
              </a:solidFill>
            </a:endParaRPr>
          </a:p>
        </p:txBody>
      </p:sp>
      <p:sp>
        <p:nvSpPr>
          <p:cNvPr id="46" name="Google Shape;512;p31">
            <a:extLst>
              <a:ext uri="{FF2B5EF4-FFF2-40B4-BE49-F238E27FC236}">
                <a16:creationId xmlns:a16="http://schemas.microsoft.com/office/drawing/2014/main" id="{9ED860FA-FDB9-69A6-AAB9-A1A04A45CEE1}"/>
              </a:ext>
            </a:extLst>
          </p:cNvPr>
          <p:cNvSpPr txBox="1">
            <a:spLocks/>
          </p:cNvSpPr>
          <p:nvPr/>
        </p:nvSpPr>
        <p:spPr>
          <a:xfrm>
            <a:off x="1567874" y="2741186"/>
            <a:ext cx="4956492" cy="44166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r>
              <a:rPr lang="en-US" altLang="zh-TW" sz="1600">
                <a:solidFill>
                  <a:schemeClr val="tx2"/>
                </a:solidFill>
                <a:cs typeface="Calibri"/>
              </a:rPr>
              <a:t>“Overstock of perishable goods”</a:t>
            </a:r>
          </a:p>
        </p:txBody>
      </p:sp>
      <p:cxnSp>
        <p:nvCxnSpPr>
          <p:cNvPr id="48" name="Google Shape;555;p31">
            <a:extLst>
              <a:ext uri="{FF2B5EF4-FFF2-40B4-BE49-F238E27FC236}">
                <a16:creationId xmlns:a16="http://schemas.microsoft.com/office/drawing/2014/main" id="{AE113685-F315-F239-F564-A1B4CA05A032}"/>
              </a:ext>
            </a:extLst>
          </p:cNvPr>
          <p:cNvCxnSpPr>
            <a:cxnSpLocks/>
          </p:cNvCxnSpPr>
          <p:nvPr/>
        </p:nvCxnSpPr>
        <p:spPr>
          <a:xfrm>
            <a:off x="1249293" y="2570857"/>
            <a:ext cx="3" cy="646743"/>
          </a:xfrm>
          <a:prstGeom prst="straightConnector1">
            <a:avLst/>
          </a:prstGeom>
          <a:noFill/>
          <a:ln w="9525" cap="flat" cmpd="sng">
            <a:solidFill>
              <a:schemeClr val="accent4"/>
            </a:solidFill>
            <a:prstDash val="solid"/>
            <a:round/>
            <a:headEnd type="none" w="med" len="med"/>
            <a:tailEnd type="none" w="med" len="med"/>
          </a:ln>
        </p:spPr>
      </p:cxnSp>
      <p:sp>
        <p:nvSpPr>
          <p:cNvPr id="50" name="Google Shape;514;p31">
            <a:extLst>
              <a:ext uri="{FF2B5EF4-FFF2-40B4-BE49-F238E27FC236}">
                <a16:creationId xmlns:a16="http://schemas.microsoft.com/office/drawing/2014/main" id="{65115172-B873-1079-0A7B-00022A4A1468}"/>
              </a:ext>
            </a:extLst>
          </p:cNvPr>
          <p:cNvSpPr txBox="1">
            <a:spLocks/>
          </p:cNvSpPr>
          <p:nvPr/>
        </p:nvSpPr>
        <p:spPr>
          <a:xfrm>
            <a:off x="1249293" y="3217186"/>
            <a:ext cx="4057200" cy="5307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1800" err="1">
                <a:solidFill>
                  <a:schemeClr val="bg1"/>
                </a:solidFill>
                <a:latin typeface="Fira Code" panose="020B0809050000020004" pitchFamily="49" charset="0"/>
                <a:ea typeface="Fira Code" panose="020B0809050000020004" pitchFamily="49" charset="0"/>
                <a:cs typeface="Fira Code" panose="020B0809050000020004" pitchFamily="49" charset="0"/>
              </a:rPr>
              <a:t>elif</a:t>
            </a:r>
            <a:r>
              <a:rPr lang="en-GB" sz="1800">
                <a:solidFill>
                  <a:schemeClr val="accent6"/>
                </a:solidFill>
                <a:latin typeface="Fira Code" panose="020B0809050000020004" pitchFamily="49" charset="0"/>
                <a:ea typeface="Fira Code" panose="020B0809050000020004" pitchFamily="49" charset="0"/>
                <a:cs typeface="Fira Code" panose="020B0809050000020004" pitchFamily="49" charset="0"/>
              </a:rPr>
              <a:t> </a:t>
            </a:r>
            <a:r>
              <a:rPr lang="en-GB" sz="1600">
                <a:solidFill>
                  <a:schemeClr val="accent6"/>
                </a:solidFill>
                <a:latin typeface="Fira Code" panose="020B0809050000020004" pitchFamily="49" charset="0"/>
                <a:ea typeface="Fira Code" panose="020B0809050000020004" pitchFamily="49" charset="0"/>
                <a:cs typeface="Fira Code" panose="020B0809050000020004" pitchFamily="49" charset="0"/>
              </a:rPr>
              <a:t>Lower Prediction:</a:t>
            </a:r>
            <a:endParaRPr lang="en-GB" sz="1800">
              <a:solidFill>
                <a:schemeClr val="accent6"/>
              </a:solidFill>
              <a:latin typeface="Fira Code" panose="020B0809050000020004" pitchFamily="49" charset="0"/>
              <a:ea typeface="Fira Code" panose="020B0809050000020004" pitchFamily="49" charset="0"/>
              <a:cs typeface="Fira Code" panose="020B0809050000020004" pitchFamily="49" charset="0"/>
            </a:endParaRPr>
          </a:p>
        </p:txBody>
      </p:sp>
      <p:cxnSp>
        <p:nvCxnSpPr>
          <p:cNvPr id="52" name="Google Shape;552;p31">
            <a:extLst>
              <a:ext uri="{FF2B5EF4-FFF2-40B4-BE49-F238E27FC236}">
                <a16:creationId xmlns:a16="http://schemas.microsoft.com/office/drawing/2014/main" id="{3F98E778-A495-D515-CD1B-271B8B830A5B}"/>
              </a:ext>
            </a:extLst>
          </p:cNvPr>
          <p:cNvCxnSpPr>
            <a:cxnSpLocks/>
          </p:cNvCxnSpPr>
          <p:nvPr/>
        </p:nvCxnSpPr>
        <p:spPr>
          <a:xfrm>
            <a:off x="1249293" y="3650055"/>
            <a:ext cx="3" cy="614211"/>
          </a:xfrm>
          <a:prstGeom prst="straightConnector1">
            <a:avLst/>
          </a:prstGeom>
          <a:noFill/>
          <a:ln w="9525" cap="flat" cmpd="sng">
            <a:solidFill>
              <a:schemeClr val="accent4"/>
            </a:solidFill>
            <a:prstDash val="solid"/>
            <a:round/>
            <a:headEnd type="none" w="med" len="med"/>
            <a:tailEnd type="none" w="med" len="med"/>
          </a:ln>
        </p:spPr>
      </p:cxnSp>
      <p:sp>
        <p:nvSpPr>
          <p:cNvPr id="54" name="Google Shape;543;p31">
            <a:extLst>
              <a:ext uri="{FF2B5EF4-FFF2-40B4-BE49-F238E27FC236}">
                <a16:creationId xmlns:a16="http://schemas.microsoft.com/office/drawing/2014/main" id="{D0AC04E1-8623-A91F-FD77-F548CEEE1375}"/>
              </a:ext>
            </a:extLst>
          </p:cNvPr>
          <p:cNvSpPr txBox="1">
            <a:spLocks/>
          </p:cNvSpPr>
          <p:nvPr/>
        </p:nvSpPr>
        <p:spPr>
          <a:xfrm>
            <a:off x="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GB" sz="1600">
                <a:solidFill>
                  <a:schemeClr val="accent3"/>
                </a:solidFill>
              </a:rPr>
              <a:t>Introduction</a:t>
            </a:r>
          </a:p>
        </p:txBody>
      </p:sp>
      <p:sp>
        <p:nvSpPr>
          <p:cNvPr id="55" name="Google Shape;512;p31">
            <a:extLst>
              <a:ext uri="{FF2B5EF4-FFF2-40B4-BE49-F238E27FC236}">
                <a16:creationId xmlns:a16="http://schemas.microsoft.com/office/drawing/2014/main" id="{3DC64D20-97E9-8FFC-E549-91BD392E3C50}"/>
              </a:ext>
            </a:extLst>
          </p:cNvPr>
          <p:cNvSpPr txBox="1">
            <a:spLocks/>
          </p:cNvSpPr>
          <p:nvPr/>
        </p:nvSpPr>
        <p:spPr>
          <a:xfrm>
            <a:off x="1594010" y="3515306"/>
            <a:ext cx="5263990" cy="784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r>
              <a:rPr lang="en-US" altLang="zh-TW" sz="1600">
                <a:solidFill>
                  <a:schemeClr val="tx2"/>
                </a:solidFill>
                <a:cs typeface="Calibri"/>
              </a:rPr>
              <a:t>“Lost revenue share</a:t>
            </a:r>
          </a:p>
          <a:p>
            <a:r>
              <a:rPr lang="en-US" altLang="zh-TW" sz="1600">
                <a:solidFill>
                  <a:schemeClr val="tx2"/>
                </a:solidFill>
                <a:cs typeface="Calibri"/>
              </a:rPr>
              <a:t> Dissatisfied customers”</a:t>
            </a:r>
          </a:p>
        </p:txBody>
      </p:sp>
      <p:pic>
        <p:nvPicPr>
          <p:cNvPr id="57" name="Content Placeholder 5" descr="How AI is Changing Grocery Shopping Forever | by Ben McKean | Medium">
            <a:extLst>
              <a:ext uri="{FF2B5EF4-FFF2-40B4-BE49-F238E27FC236}">
                <a16:creationId xmlns:a16="http://schemas.microsoft.com/office/drawing/2014/main" id="{18C17B4D-5799-5126-8EDA-C65AA2E03A5E}"/>
              </a:ext>
            </a:extLst>
          </p:cNvPr>
          <p:cNvPicPr>
            <a:picLocks noChangeAspect="1"/>
          </p:cNvPicPr>
          <p:nvPr/>
        </p:nvPicPr>
        <p:blipFill>
          <a:blip r:embed="rId3"/>
          <a:stretch>
            <a:fillRect/>
          </a:stretch>
        </p:blipFill>
        <p:spPr>
          <a:xfrm>
            <a:off x="6298374" y="2642770"/>
            <a:ext cx="2445482" cy="1782116"/>
          </a:xfrm>
          <a:prstGeom prst="rect">
            <a:avLst/>
          </a:prstGeom>
          <a:solidFill>
            <a:srgbClr val="4A90E2"/>
          </a:solidFill>
        </p:spPr>
      </p:pic>
      <p:sp>
        <p:nvSpPr>
          <p:cNvPr id="58" name="TextBox 6">
            <a:extLst>
              <a:ext uri="{FF2B5EF4-FFF2-40B4-BE49-F238E27FC236}">
                <a16:creationId xmlns:a16="http://schemas.microsoft.com/office/drawing/2014/main" id="{E1F4C5C4-5ECF-3EFB-9F02-5DF94AA3DED0}"/>
              </a:ext>
            </a:extLst>
          </p:cNvPr>
          <p:cNvSpPr txBox="1"/>
          <p:nvPr/>
        </p:nvSpPr>
        <p:spPr>
          <a:xfrm>
            <a:off x="35322" y="4642451"/>
            <a:ext cx="5934993"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solidFill>
                  <a:schemeClr val="accent5">
                    <a:lumMod val="25000"/>
                    <a:lumOff val="75000"/>
                  </a:schemeClr>
                </a:solidFill>
                <a:latin typeface="Calibri" panose="020F0502020204030204" pitchFamily="34" charset="0"/>
                <a:ea typeface="Calibri" panose="020F0502020204030204" pitchFamily="34" charset="0"/>
                <a:cs typeface="Calibri" panose="020F0502020204030204" pitchFamily="34" charset="0"/>
              </a:rPr>
              <a:t>Picture reference: </a:t>
            </a:r>
            <a:r>
              <a:rPr lang="en-US" sz="1100">
                <a:solidFill>
                  <a:schemeClr val="accent5">
                    <a:lumMod val="25000"/>
                    <a:lumOff val="75000"/>
                  </a:schemeClr>
                </a:solidFill>
                <a:latin typeface="Calibri" panose="020F0502020204030204" pitchFamily="34" charset="0"/>
                <a:ea typeface="Calibri" panose="020F0502020204030204" pitchFamily="34" charset="0"/>
                <a:cs typeface="Calibri" panose="020F0502020204030204" pitchFamily="34" charset="0"/>
              </a:rPr>
              <a:t>https://medium.com/@benjaminmckean/how-ai-is-changing-grocery-shopping-forever-2a531828960dog6qx8PGCAxV5ticCHQxLCL0Qr4kDegQIARBX </a:t>
            </a:r>
            <a:endParaRPr lang="en-US" sz="1000">
              <a:solidFill>
                <a:schemeClr val="accent5">
                  <a:lumMod val="25000"/>
                  <a:lumOff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59" name="Google Shape;485;p29">
            <a:extLst>
              <a:ext uri="{FF2B5EF4-FFF2-40B4-BE49-F238E27FC236}">
                <a16:creationId xmlns:a16="http://schemas.microsoft.com/office/drawing/2014/main" id="{CB1211F0-3B95-DDDC-441E-E64E737378C7}"/>
              </a:ext>
            </a:extLst>
          </p:cNvPr>
          <p:cNvSpPr txBox="1">
            <a:spLocks/>
          </p:cNvSpPr>
          <p:nvPr/>
        </p:nvSpPr>
        <p:spPr>
          <a:xfrm>
            <a:off x="1249296" y="713737"/>
            <a:ext cx="7610652" cy="79951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600" dirty="0">
                <a:solidFill>
                  <a:schemeClr val="accent6"/>
                </a:solidFill>
                <a:latin typeface="Fira Code"/>
                <a:ea typeface="Fira Code"/>
                <a:cs typeface="Fira Code"/>
                <a:sym typeface="Fira Code"/>
              </a:rPr>
              <a:t>ABC, a leading South American retailer, seeks to enhance sales predictions for optimal inventory management and improved customer satisfaction.</a:t>
            </a:r>
          </a:p>
        </p:txBody>
      </p:sp>
      <p:sp>
        <p:nvSpPr>
          <p:cNvPr id="60" name="Google Shape;543;p31">
            <a:extLst>
              <a:ext uri="{FF2B5EF4-FFF2-40B4-BE49-F238E27FC236}">
                <a16:creationId xmlns:a16="http://schemas.microsoft.com/office/drawing/2014/main" id="{0A748132-9934-9EC0-7265-077BF60FD33B}"/>
              </a:ext>
            </a:extLst>
          </p:cNvPr>
          <p:cNvSpPr txBox="1">
            <a:spLocks/>
          </p:cNvSpPr>
          <p:nvPr/>
        </p:nvSpPr>
        <p:spPr>
          <a:xfrm>
            <a:off x="4572000" y="113257"/>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US" altLang="zh-TW" sz="1600">
                <a:solidFill>
                  <a:schemeClr val="accent3"/>
                </a:solidFill>
              </a:rPr>
              <a:t>Objective</a:t>
            </a:r>
            <a:endParaRPr lang="en-GB" sz="1600">
              <a:solidFill>
                <a:schemeClr val="accent3"/>
              </a:solidFill>
            </a:endParaRPr>
          </a:p>
        </p:txBody>
      </p:sp>
      <p:sp>
        <p:nvSpPr>
          <p:cNvPr id="3" name="文字方塊 2">
            <a:extLst>
              <a:ext uri="{FF2B5EF4-FFF2-40B4-BE49-F238E27FC236}">
                <a16:creationId xmlns:a16="http://schemas.microsoft.com/office/drawing/2014/main" id="{B62C8EC4-F2CE-9658-64CE-3C15CDF48D89}"/>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a:t>
            </a:r>
            <a:endParaRPr lang="zh-TW" altLang="en-US" sz="1300">
              <a:solidFill>
                <a:schemeClr val="accent3"/>
              </a:solidFill>
              <a:latin typeface="Fira Code"/>
              <a:cs typeface="Fira Code"/>
              <a:sym typeface="Fira Code"/>
            </a:endParaRPr>
          </a:p>
        </p:txBody>
      </p:sp>
      <p:sp>
        <p:nvSpPr>
          <p:cNvPr id="6" name="文字方塊 5">
            <a:extLst>
              <a:ext uri="{FF2B5EF4-FFF2-40B4-BE49-F238E27FC236}">
                <a16:creationId xmlns:a16="http://schemas.microsoft.com/office/drawing/2014/main" id="{0BAEBF72-BC58-27B6-CC36-DA9BB4926B0D}"/>
              </a:ext>
            </a:extLst>
          </p:cNvPr>
          <p:cNvSpPr txBox="1"/>
          <p:nvPr/>
        </p:nvSpPr>
        <p:spPr>
          <a:xfrm>
            <a:off x="1249296" y="1749667"/>
            <a:ext cx="8408504" cy="584775"/>
          </a:xfrm>
          <a:prstGeom prst="rect">
            <a:avLst/>
          </a:prstGeom>
          <a:noFill/>
        </p:spPr>
        <p:txBody>
          <a:bodyPr wrap="square">
            <a:spAutoFit/>
          </a:bodyPr>
          <a:lstStyle/>
          <a:p>
            <a:r>
              <a:rPr lang="en-US" altLang="zh-TW" sz="1600">
                <a:solidFill>
                  <a:srgbClr val="92D050"/>
                </a:solidFill>
                <a:latin typeface="Fira Code"/>
                <a:ea typeface="Fira Code"/>
                <a:cs typeface="Fira Code"/>
              </a:rPr>
              <a:t>Challenge:</a:t>
            </a:r>
          </a:p>
          <a:p>
            <a:r>
              <a:rPr lang="en-US" altLang="zh-TW" sz="1600">
                <a:solidFill>
                  <a:schemeClr val="accent6"/>
                </a:solidFill>
                <a:latin typeface="Fira Code"/>
                <a:ea typeface="Fira Code"/>
                <a:cs typeface="Fira Code"/>
              </a:rPr>
              <a:t>not able to s</a:t>
            </a:r>
            <a:r>
              <a:rPr lang="en-US" altLang="zh-TW" sz="1600">
                <a:solidFill>
                  <a:schemeClr val="accent6"/>
                </a:solidFill>
                <a:latin typeface="Fira Code"/>
                <a:cs typeface="Fira Code"/>
              </a:rPr>
              <a:t>trike the right balance at ABC store as :</a:t>
            </a:r>
            <a:endParaRPr lang="zh-TW" altLang="en-US" sz="1600">
              <a:solidFill>
                <a:schemeClr val="accent6"/>
              </a:solidFill>
              <a:latin typeface="Fira Code"/>
              <a:cs typeface="Fira Cod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35"/>
          <p:cNvSpPr txBox="1">
            <a:spLocks noGrp="1"/>
          </p:cNvSpPr>
          <p:nvPr>
            <p:ph type="title"/>
          </p:nvPr>
        </p:nvSpPr>
        <p:spPr>
          <a:xfrm>
            <a:off x="1181350" y="836700"/>
            <a:ext cx="72906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Goal;</a:t>
            </a:r>
            <a:r>
              <a:rPr lang="en"/>
              <a:t> </a:t>
            </a:r>
            <a:endParaRPr>
              <a:solidFill>
                <a:schemeClr val="accent6"/>
              </a:solidFill>
            </a:endParaRPr>
          </a:p>
        </p:txBody>
      </p:sp>
      <p:sp>
        <p:nvSpPr>
          <p:cNvPr id="5" name="Google Shape;629;p33">
            <a:extLst>
              <a:ext uri="{FF2B5EF4-FFF2-40B4-BE49-F238E27FC236}">
                <a16:creationId xmlns:a16="http://schemas.microsoft.com/office/drawing/2014/main" id="{76A3CB7F-5A2E-C1A1-4672-645A9FB4BEFD}"/>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Objective</a:t>
            </a:r>
          </a:p>
        </p:txBody>
      </p:sp>
      <p:sp>
        <p:nvSpPr>
          <p:cNvPr id="24" name="Google Shape;878;p44">
            <a:extLst>
              <a:ext uri="{FF2B5EF4-FFF2-40B4-BE49-F238E27FC236}">
                <a16:creationId xmlns:a16="http://schemas.microsoft.com/office/drawing/2014/main" id="{FEEDE502-1470-8F07-41C3-FA1318A321FC}"/>
              </a:ext>
            </a:extLst>
          </p:cNvPr>
          <p:cNvSpPr txBox="1">
            <a:spLocks noGrp="1"/>
          </p:cNvSpPr>
          <p:nvPr>
            <p:ph type="subTitle" idx="1"/>
          </p:nvPr>
        </p:nvSpPr>
        <p:spPr>
          <a:xfrm>
            <a:off x="1181350" y="1951650"/>
            <a:ext cx="7760472" cy="12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000"/>
              <a:t>&lt; “</a:t>
            </a:r>
            <a:r>
              <a:rPr lang="en-US" altLang="zh-TW" sz="2000"/>
              <a:t>Predict sales for each product type in each store from July 31</a:t>
            </a:r>
            <a:r>
              <a:rPr lang="en-US" altLang="zh-TW" sz="2000" baseline="30000"/>
              <a:t>st </a:t>
            </a:r>
            <a:r>
              <a:rPr lang="en-US" altLang="zh-TW" sz="2000"/>
              <a:t>2017 to August 15</a:t>
            </a:r>
            <a:r>
              <a:rPr lang="en-US" altLang="zh-TW" sz="2000" baseline="30000"/>
              <a:t>th </a:t>
            </a:r>
            <a:r>
              <a:rPr lang="en-US" altLang="zh-TW" sz="2000"/>
              <a:t>2017</a:t>
            </a:r>
            <a:r>
              <a:rPr lang="en" altLang="zh-TW" sz="2000"/>
              <a:t>” </a:t>
            </a:r>
            <a:r>
              <a:rPr lang="en" sz="2000"/>
              <a:t>&gt;</a:t>
            </a:r>
            <a:endParaRPr sz="2000"/>
          </a:p>
        </p:txBody>
      </p:sp>
      <p:sp>
        <p:nvSpPr>
          <p:cNvPr id="2" name="Google Shape;543;p31">
            <a:extLst>
              <a:ext uri="{FF2B5EF4-FFF2-40B4-BE49-F238E27FC236}">
                <a16:creationId xmlns:a16="http://schemas.microsoft.com/office/drawing/2014/main" id="{ED0A9B1B-0D1E-B096-2F79-256AD866D29B}"/>
              </a:ext>
            </a:extLst>
          </p:cNvPr>
          <p:cNvSpPr txBox="1">
            <a:spLocks/>
          </p:cNvSpPr>
          <p:nvPr/>
        </p:nvSpPr>
        <p:spPr>
          <a:xfrm>
            <a:off x="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GB" sz="1600">
                <a:solidFill>
                  <a:schemeClr val="accent3"/>
                </a:solidFill>
              </a:rPr>
              <a:t>Introduction</a:t>
            </a:r>
          </a:p>
        </p:txBody>
      </p:sp>
      <p:sp>
        <p:nvSpPr>
          <p:cNvPr id="3" name="文字方塊 2">
            <a:extLst>
              <a:ext uri="{FF2B5EF4-FFF2-40B4-BE49-F238E27FC236}">
                <a16:creationId xmlns:a16="http://schemas.microsoft.com/office/drawing/2014/main" id="{931D9054-7D10-619F-939C-91E0053F75C9}"/>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2</a:t>
            </a:r>
            <a:endParaRPr lang="zh-TW" altLang="en-US" sz="1300">
              <a:solidFill>
                <a:schemeClr val="accent3"/>
              </a:solidFill>
              <a:latin typeface="Fira Code"/>
              <a:cs typeface="Fira Code"/>
              <a:sym typeface="Fira 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6" name="Google Shape;515;p31">
            <a:extLst>
              <a:ext uri="{FF2B5EF4-FFF2-40B4-BE49-F238E27FC236}">
                <a16:creationId xmlns:a16="http://schemas.microsoft.com/office/drawing/2014/main" id="{21EAEBB3-D94B-2D3B-93DA-8B89B4D552A2}"/>
              </a:ext>
            </a:extLst>
          </p:cNvPr>
          <p:cNvSpPr txBox="1">
            <a:spLocks noGrp="1"/>
          </p:cNvSpPr>
          <p:nvPr>
            <p:ph type="title"/>
          </p:nvPr>
        </p:nvSpPr>
        <p:spPr>
          <a:xfrm>
            <a:off x="1123310" y="2322996"/>
            <a:ext cx="7110097" cy="867119"/>
          </a:xfrm>
          <a:prstGeom prst="rect">
            <a:avLst/>
          </a:prstGeom>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US" sz="1800" dirty="0">
                <a:solidFill>
                  <a:schemeClr val="bg1"/>
                </a:solidFill>
              </a:rPr>
              <a:t>ABC's current approach:</a:t>
            </a:r>
            <a:br>
              <a:rPr lang="en-US" sz="1800" dirty="0">
                <a:solidFill>
                  <a:schemeClr val="accent6"/>
                </a:solidFill>
              </a:rPr>
            </a:br>
            <a:r>
              <a:rPr lang="en-US" sz="1800" dirty="0">
                <a:solidFill>
                  <a:schemeClr val="accent6"/>
                </a:solidFill>
              </a:rPr>
              <a:t>	</a:t>
            </a:r>
            <a:r>
              <a:rPr lang="en-US" sz="1600" dirty="0">
                <a:solidFill>
                  <a:schemeClr val="accent6"/>
                </a:solidFill>
                <a:sym typeface="Arial"/>
              </a:rPr>
              <a:t>Subjective forecasting and limited data</a:t>
            </a:r>
          </a:p>
        </p:txBody>
      </p:sp>
      <p:sp>
        <p:nvSpPr>
          <p:cNvPr id="7" name="Google Shape;543;p31">
            <a:extLst>
              <a:ext uri="{FF2B5EF4-FFF2-40B4-BE49-F238E27FC236}">
                <a16:creationId xmlns:a16="http://schemas.microsoft.com/office/drawing/2014/main" id="{A6098AAF-1A12-CFA1-8822-6EE8DE5E7F2D}"/>
              </a:ext>
            </a:extLst>
          </p:cNvPr>
          <p:cNvSpPr txBox="1">
            <a:spLocks/>
          </p:cNvSpPr>
          <p:nvPr/>
        </p:nvSpPr>
        <p:spPr>
          <a:xfrm>
            <a:off x="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GB" altLang="zh-TW" sz="1600">
                <a:solidFill>
                  <a:schemeClr val="accent3"/>
                </a:solidFill>
              </a:rPr>
              <a:t>Background</a:t>
            </a:r>
            <a:endParaRPr lang="en-GB" sz="1600">
              <a:solidFill>
                <a:schemeClr val="accent3"/>
              </a:solidFill>
            </a:endParaRPr>
          </a:p>
        </p:txBody>
      </p:sp>
      <p:sp>
        <p:nvSpPr>
          <p:cNvPr id="9" name="Google Shape;485;p29">
            <a:extLst>
              <a:ext uri="{FF2B5EF4-FFF2-40B4-BE49-F238E27FC236}">
                <a16:creationId xmlns:a16="http://schemas.microsoft.com/office/drawing/2014/main" id="{49B18F99-15AF-0328-AA3B-E979564CA429}"/>
              </a:ext>
            </a:extLst>
          </p:cNvPr>
          <p:cNvSpPr txBox="1">
            <a:spLocks/>
          </p:cNvSpPr>
          <p:nvPr/>
        </p:nvSpPr>
        <p:spPr>
          <a:xfrm>
            <a:off x="1123310" y="1053768"/>
            <a:ext cx="7110096" cy="1051514"/>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en-US" sz="1800" dirty="0">
                <a:solidFill>
                  <a:schemeClr val="tx2"/>
                </a:solidFill>
                <a:latin typeface="Fira Code"/>
                <a:ea typeface="Fira Code"/>
                <a:cs typeface="Fira Code"/>
                <a:sym typeface="Fira Code"/>
              </a:rPr>
              <a:t>Case of ABC grocery retailers in South America:</a:t>
            </a:r>
          </a:p>
          <a:p>
            <a:pPr>
              <a:lnSpc>
                <a:spcPct val="150000"/>
              </a:lnSpc>
            </a:pPr>
            <a:r>
              <a:rPr lang="en-US" sz="1600" dirty="0">
                <a:solidFill>
                  <a:schemeClr val="accent6"/>
                </a:solidFill>
                <a:latin typeface="Fira Code"/>
                <a:ea typeface="Fira Code"/>
                <a:cs typeface="Fira Code"/>
                <a:sym typeface="Fira Code"/>
              </a:rPr>
              <a:t>	Lack of automation in execution</a:t>
            </a:r>
          </a:p>
          <a:p>
            <a:pPr>
              <a:lnSpc>
                <a:spcPct val="150000"/>
              </a:lnSpc>
            </a:pPr>
            <a:r>
              <a:rPr lang="en-US" sz="1600" dirty="0">
                <a:solidFill>
                  <a:schemeClr val="accent6"/>
                </a:solidFill>
                <a:latin typeface="Fira Code"/>
                <a:ea typeface="Fira Code"/>
                <a:cs typeface="Fira Code"/>
                <a:sym typeface="Fira Code"/>
              </a:rPr>
              <a:t>	Minimal data support</a:t>
            </a:r>
          </a:p>
          <a:p>
            <a:endParaRPr lang="en-US" sz="1600" dirty="0">
              <a:solidFill>
                <a:schemeClr val="accent6"/>
              </a:solidFill>
              <a:latin typeface="Fira Code"/>
              <a:ea typeface="Fira Code"/>
              <a:cs typeface="Fira Code"/>
              <a:sym typeface="Fira Code"/>
            </a:endParaRPr>
          </a:p>
        </p:txBody>
      </p:sp>
      <p:sp>
        <p:nvSpPr>
          <p:cNvPr id="10" name="Google Shape;543;p31">
            <a:extLst>
              <a:ext uri="{FF2B5EF4-FFF2-40B4-BE49-F238E27FC236}">
                <a16:creationId xmlns:a16="http://schemas.microsoft.com/office/drawing/2014/main" id="{737FEC8E-7B6A-6A5D-2439-F8D3ADE381DA}"/>
              </a:ext>
            </a:extLst>
          </p:cNvPr>
          <p:cNvSpPr txBox="1">
            <a:spLocks/>
          </p:cNvSpPr>
          <p:nvPr/>
        </p:nvSpPr>
        <p:spPr>
          <a:xfrm>
            <a:off x="4572000" y="113257"/>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GB" sz="1600">
                <a:solidFill>
                  <a:schemeClr val="accent3"/>
                </a:solidFill>
              </a:rPr>
              <a:t>Data description</a:t>
            </a:r>
          </a:p>
        </p:txBody>
      </p:sp>
      <p:sp>
        <p:nvSpPr>
          <p:cNvPr id="2" name="文字方塊 1">
            <a:extLst>
              <a:ext uri="{FF2B5EF4-FFF2-40B4-BE49-F238E27FC236}">
                <a16:creationId xmlns:a16="http://schemas.microsoft.com/office/drawing/2014/main" id="{D8B9DF9A-9FC3-58CA-2F43-FD49ABF74C89}"/>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3</a:t>
            </a:r>
            <a:endParaRPr lang="zh-TW" altLang="en-US" sz="1300">
              <a:solidFill>
                <a:schemeClr val="accent3"/>
              </a:solidFill>
              <a:latin typeface="Fira Code"/>
              <a:cs typeface="Fira Code"/>
              <a:sym typeface="Fira Code"/>
            </a:endParaRPr>
          </a:p>
        </p:txBody>
      </p:sp>
      <p:sp>
        <p:nvSpPr>
          <p:cNvPr id="3" name="Google Shape;515;p31">
            <a:extLst>
              <a:ext uri="{FF2B5EF4-FFF2-40B4-BE49-F238E27FC236}">
                <a16:creationId xmlns:a16="http://schemas.microsoft.com/office/drawing/2014/main" id="{7401B7F5-4500-6B98-146E-03E5CA9A4E5A}"/>
              </a:ext>
            </a:extLst>
          </p:cNvPr>
          <p:cNvSpPr txBox="1">
            <a:spLocks/>
          </p:cNvSpPr>
          <p:nvPr/>
        </p:nvSpPr>
        <p:spPr>
          <a:xfrm>
            <a:off x="1123310" y="3407828"/>
            <a:ext cx="7736639" cy="8671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Fira Code"/>
              <a:buNone/>
              <a:defRPr sz="10000" b="0" i="0" u="none" strike="noStrike" cap="none">
                <a:solidFill>
                  <a:schemeClr val="lt1"/>
                </a:solidFill>
                <a:latin typeface="Fira Code"/>
                <a:ea typeface="Fira Code"/>
                <a:cs typeface="Fira Code"/>
                <a:sym typeface="Fira Code"/>
              </a:defRPr>
            </a:lvl1pPr>
            <a:lvl2pPr marR="0" lvl="1"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2pPr>
            <a:lvl3pPr marR="0" lvl="2"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3pPr>
            <a:lvl4pPr marR="0" lvl="3"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4pPr>
            <a:lvl5pPr marR="0" lvl="4"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5pPr>
            <a:lvl6pPr marR="0" lvl="5"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6pPr>
            <a:lvl7pPr marR="0" lvl="6"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7pPr>
            <a:lvl8pPr marR="0" lvl="7"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8pPr>
            <a:lvl9pPr marR="0" lvl="8" algn="r" rtl="0">
              <a:lnSpc>
                <a:spcPct val="100000"/>
              </a:lnSpc>
              <a:spcBef>
                <a:spcPts val="0"/>
              </a:spcBef>
              <a:spcAft>
                <a:spcPts val="0"/>
              </a:spcAft>
              <a:buClr>
                <a:schemeClr val="dk1"/>
              </a:buClr>
              <a:buSzPts val="2500"/>
              <a:buFont typeface="Fira Code"/>
              <a:buNone/>
              <a:defRPr sz="2500" b="0" i="0" u="none" strike="noStrike" cap="none">
                <a:solidFill>
                  <a:schemeClr val="dk1"/>
                </a:solidFill>
                <a:latin typeface="Fira Code"/>
                <a:ea typeface="Fira Code"/>
                <a:cs typeface="Fira Code"/>
                <a:sym typeface="Fira Code"/>
              </a:defRPr>
            </a:lvl9pPr>
          </a:lstStyle>
          <a:p>
            <a:pPr algn="l">
              <a:lnSpc>
                <a:spcPct val="150000"/>
              </a:lnSpc>
            </a:pPr>
            <a:r>
              <a:rPr lang="en-US" sz="1800" dirty="0">
                <a:solidFill>
                  <a:schemeClr val="accent2"/>
                </a:solidFill>
              </a:rPr>
              <a:t>New Approach:</a:t>
            </a:r>
            <a:br>
              <a:rPr lang="en-US" sz="1800" dirty="0">
                <a:solidFill>
                  <a:schemeClr val="accent2"/>
                </a:solidFill>
              </a:rPr>
            </a:br>
            <a:r>
              <a:rPr lang="en-US" sz="1800" dirty="0">
                <a:solidFill>
                  <a:schemeClr val="accent2"/>
                </a:solidFill>
              </a:rPr>
              <a:t>	</a:t>
            </a:r>
            <a:r>
              <a:rPr lang="en-US" sz="1600" dirty="0">
                <a:solidFill>
                  <a:schemeClr val="accent6"/>
                </a:solidFill>
              </a:rPr>
              <a:t>P</a:t>
            </a:r>
            <a:r>
              <a:rPr lang="en-US" altLang="zh-TW" sz="1600" dirty="0">
                <a:solidFill>
                  <a:schemeClr val="accent6"/>
                </a:solidFill>
              </a:rPr>
              <a:t>recise methodology using ML</a:t>
            </a:r>
          </a:p>
          <a:p>
            <a:pPr algn="l">
              <a:lnSpc>
                <a:spcPct val="150000"/>
              </a:lnSpc>
            </a:pPr>
            <a:endParaRPr lang="en-US" sz="1800" dirty="0">
              <a:solidFill>
                <a:schemeClr val="accent6"/>
              </a:solidFill>
            </a:endParaRPr>
          </a:p>
        </p:txBody>
      </p:sp>
    </p:spTree>
    <p:extLst>
      <p:ext uri="{BB962C8B-B14F-4D97-AF65-F5344CB8AC3E}">
        <p14:creationId xmlns:p14="http://schemas.microsoft.com/office/powerpoint/2010/main" val="112672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27A9A390-C2EA-4A25-23FD-835CF79821C3}"/>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0" name="圖片 9">
            <a:extLst>
              <a:ext uri="{FF2B5EF4-FFF2-40B4-BE49-F238E27FC236}">
                <a16:creationId xmlns:a16="http://schemas.microsoft.com/office/drawing/2014/main" id="{F81B8E2A-22C5-692C-80B8-FA01F6F8BEBC}"/>
              </a:ext>
            </a:extLst>
          </p:cNvPr>
          <p:cNvPicPr>
            <a:picLocks noChangeAspect="1"/>
          </p:cNvPicPr>
          <p:nvPr/>
        </p:nvPicPr>
        <p:blipFill>
          <a:blip r:embed="rId3"/>
          <a:stretch>
            <a:fillRect/>
          </a:stretch>
        </p:blipFill>
        <p:spPr>
          <a:xfrm>
            <a:off x="2377024" y="3131209"/>
            <a:ext cx="5100243" cy="1674498"/>
          </a:xfrm>
          <a:prstGeom prst="rect">
            <a:avLst/>
          </a:prstGeom>
        </p:spPr>
      </p:pic>
      <p:sp>
        <p:nvSpPr>
          <p:cNvPr id="15" name="文字方塊 14">
            <a:extLst>
              <a:ext uri="{FF2B5EF4-FFF2-40B4-BE49-F238E27FC236}">
                <a16:creationId xmlns:a16="http://schemas.microsoft.com/office/drawing/2014/main" id="{D1C4DCD3-9A84-C07D-AC74-0F001FD995DF}"/>
              </a:ext>
            </a:extLst>
          </p:cNvPr>
          <p:cNvSpPr txBox="1"/>
          <p:nvPr/>
        </p:nvSpPr>
        <p:spPr>
          <a:xfrm>
            <a:off x="1281793" y="1081818"/>
            <a:ext cx="7290707" cy="1895775"/>
          </a:xfrm>
          <a:prstGeom prst="rect">
            <a:avLst/>
          </a:prstGeom>
          <a:noFill/>
        </p:spPr>
        <p:txBody>
          <a:bodyPr wrap="square" lIns="91440" tIns="45720" rIns="91440" bIns="45720" anchor="t">
            <a:spAutoFit/>
          </a:bodyPr>
          <a:lstStyle/>
          <a:p>
            <a:pPr algn="l" rtl="0" fontAlgn="base">
              <a:lnSpc>
                <a:spcPct val="150000"/>
              </a:lnSpc>
            </a:pPr>
            <a:r>
              <a:rPr lang="en-US" altLang="zh-TW" sz="1600" dirty="0">
                <a:solidFill>
                  <a:schemeClr val="accent3"/>
                </a:solidFill>
                <a:latin typeface="Raleway"/>
                <a:ea typeface="Fira Code"/>
              </a:rPr>
              <a:t># </a:t>
            </a:r>
            <a:r>
              <a:rPr lang="en-US" altLang="zh-TW" sz="1600" b="1" dirty="0">
                <a:solidFill>
                  <a:schemeClr val="accent3"/>
                </a:solidFill>
                <a:latin typeface="Raleway"/>
                <a:ea typeface="Fira Code"/>
              </a:rPr>
              <a:t>date: </a:t>
            </a:r>
            <a:r>
              <a:rPr lang="en-US" altLang="zh-TW" sz="1600" dirty="0">
                <a:solidFill>
                  <a:schemeClr val="accent3"/>
                </a:solidFill>
                <a:latin typeface="Raleway"/>
                <a:ea typeface="Fira Code"/>
              </a:rPr>
              <a:t>the date of this dataset</a:t>
            </a:r>
          </a:p>
          <a:p>
            <a:pPr algn="l" rtl="0" fontAlgn="base">
              <a:lnSpc>
                <a:spcPct val="150000"/>
              </a:lnSpc>
            </a:pPr>
            <a:r>
              <a:rPr lang="en-US" altLang="zh-TW" sz="1600" dirty="0">
                <a:solidFill>
                  <a:schemeClr val="accent3"/>
                </a:solidFill>
                <a:latin typeface="Raleway"/>
                <a:ea typeface="Fira Code"/>
              </a:rPr>
              <a:t># </a:t>
            </a:r>
            <a:r>
              <a:rPr lang="en-US" altLang="zh-TW" sz="1600" b="1" dirty="0" err="1">
                <a:solidFill>
                  <a:schemeClr val="accent3"/>
                </a:solidFill>
                <a:latin typeface="Raleway"/>
                <a:ea typeface="Fira Code"/>
              </a:rPr>
              <a:t>store_nbr</a:t>
            </a:r>
            <a:r>
              <a:rPr lang="en-US" altLang="zh-TW" sz="1600" b="1" dirty="0">
                <a:solidFill>
                  <a:schemeClr val="accent3"/>
                </a:solidFill>
                <a:latin typeface="Raleway"/>
                <a:ea typeface="Fira Code"/>
              </a:rPr>
              <a:t>: </a:t>
            </a:r>
            <a:r>
              <a:rPr lang="en-US" altLang="zh-TW" sz="1600" dirty="0">
                <a:solidFill>
                  <a:schemeClr val="accent3"/>
                </a:solidFill>
                <a:latin typeface="Raleway"/>
                <a:ea typeface="Fira Code"/>
              </a:rPr>
              <a:t>the indicator number of stores, with 54 distinct store numbers</a:t>
            </a:r>
          </a:p>
          <a:p>
            <a:pPr algn="l" rtl="0" fontAlgn="base">
              <a:lnSpc>
                <a:spcPct val="150000"/>
              </a:lnSpc>
            </a:pPr>
            <a:r>
              <a:rPr lang="en-US" altLang="zh-TW" sz="1600" dirty="0">
                <a:solidFill>
                  <a:schemeClr val="accent3"/>
                </a:solidFill>
                <a:latin typeface="Raleway"/>
                <a:ea typeface="Fira Code"/>
              </a:rPr>
              <a:t># </a:t>
            </a:r>
            <a:r>
              <a:rPr lang="en-US" altLang="zh-TW" sz="1600" b="1" dirty="0" err="1">
                <a:solidFill>
                  <a:schemeClr val="accent3"/>
                </a:solidFill>
                <a:latin typeface="Raleway"/>
                <a:ea typeface="Fira Code"/>
              </a:rPr>
              <a:t>product_type</a:t>
            </a:r>
            <a:r>
              <a:rPr lang="en-US" altLang="zh-TW" sz="1600" b="1" dirty="0">
                <a:solidFill>
                  <a:schemeClr val="accent3"/>
                </a:solidFill>
                <a:latin typeface="Raleway"/>
                <a:ea typeface="Fira Code"/>
              </a:rPr>
              <a:t>: </a:t>
            </a:r>
            <a:r>
              <a:rPr lang="en-US" altLang="zh-TW" sz="1600" dirty="0">
                <a:solidFill>
                  <a:schemeClr val="accent3"/>
                </a:solidFill>
                <a:latin typeface="Raleway"/>
                <a:ea typeface="Fira Code"/>
              </a:rPr>
              <a:t>the type of the product for sale, covered 33 product types</a:t>
            </a:r>
          </a:p>
          <a:p>
            <a:pPr algn="l" rtl="0" fontAlgn="base">
              <a:lnSpc>
                <a:spcPct val="150000"/>
              </a:lnSpc>
            </a:pPr>
            <a:r>
              <a:rPr lang="en-US" altLang="zh-TW" sz="1600" dirty="0">
                <a:solidFill>
                  <a:schemeClr val="accent3"/>
                </a:solidFill>
                <a:latin typeface="Raleway"/>
                <a:ea typeface="Fira Code"/>
              </a:rPr>
              <a:t># </a:t>
            </a:r>
            <a:r>
              <a:rPr lang="en-US" altLang="zh-TW" sz="1600" b="1" dirty="0">
                <a:solidFill>
                  <a:schemeClr val="accent3"/>
                </a:solidFill>
                <a:latin typeface="Raleway"/>
                <a:ea typeface="Fira Code"/>
              </a:rPr>
              <a:t>sales:</a:t>
            </a:r>
            <a:r>
              <a:rPr lang="en-US" altLang="zh-TW" sz="1600" dirty="0">
                <a:solidFill>
                  <a:schemeClr val="accent3"/>
                </a:solidFill>
                <a:latin typeface="Raleway"/>
                <a:ea typeface="Fira Code"/>
              </a:rPr>
              <a:t> the total sales for a specific product type</a:t>
            </a:r>
          </a:p>
          <a:p>
            <a:pPr algn="l" rtl="0" fontAlgn="base">
              <a:lnSpc>
                <a:spcPct val="150000"/>
              </a:lnSpc>
            </a:pPr>
            <a:r>
              <a:rPr lang="en-US" altLang="zh-TW" sz="1600" dirty="0">
                <a:solidFill>
                  <a:schemeClr val="accent3"/>
                </a:solidFill>
                <a:latin typeface="Raleway"/>
                <a:ea typeface="Fira Code"/>
              </a:rPr>
              <a:t># </a:t>
            </a:r>
            <a:r>
              <a:rPr lang="en-US" altLang="zh-TW" sz="1600" b="1" dirty="0" err="1">
                <a:solidFill>
                  <a:schemeClr val="accent3"/>
                </a:solidFill>
                <a:latin typeface="Raleway"/>
                <a:ea typeface="Fira Code"/>
              </a:rPr>
              <a:t>special_offer</a:t>
            </a:r>
            <a:r>
              <a:rPr lang="en-US" altLang="zh-TW" sz="1600" dirty="0">
                <a:solidFill>
                  <a:schemeClr val="accent3"/>
                </a:solidFill>
                <a:latin typeface="Raleway"/>
                <a:ea typeface="Fira Code"/>
              </a:rPr>
              <a:t>: the strength of the promotion</a:t>
            </a:r>
            <a:endParaRPr lang="en-US" altLang="zh-TW" dirty="0">
              <a:solidFill>
                <a:schemeClr val="accent3"/>
              </a:solidFill>
              <a:latin typeface="Raleway"/>
              <a:ea typeface="Fira Code"/>
            </a:endParaRPr>
          </a:p>
        </p:txBody>
      </p:sp>
      <p:sp>
        <p:nvSpPr>
          <p:cNvPr id="19" name="Google Shape;543;p31">
            <a:extLst>
              <a:ext uri="{FF2B5EF4-FFF2-40B4-BE49-F238E27FC236}">
                <a16:creationId xmlns:a16="http://schemas.microsoft.com/office/drawing/2014/main" id="{0D41F070-7472-CA17-2368-4C253ECC9071}"/>
              </a:ext>
            </a:extLst>
          </p:cNvPr>
          <p:cNvSpPr txBox="1">
            <a:spLocks/>
          </p:cNvSpPr>
          <p:nvPr/>
        </p:nvSpPr>
        <p:spPr>
          <a:xfrm>
            <a:off x="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GB" altLang="zh-TW" sz="1600">
                <a:solidFill>
                  <a:schemeClr val="accent3"/>
                </a:solidFill>
              </a:rPr>
              <a:t>Background</a:t>
            </a:r>
            <a:endParaRPr lang="en-GB" sz="1600">
              <a:solidFill>
                <a:schemeClr val="accent3"/>
              </a:solidFill>
            </a:endParaRPr>
          </a:p>
        </p:txBody>
      </p:sp>
      <p:sp>
        <p:nvSpPr>
          <p:cNvPr id="20" name="Google Shape;543;p31">
            <a:extLst>
              <a:ext uri="{FF2B5EF4-FFF2-40B4-BE49-F238E27FC236}">
                <a16:creationId xmlns:a16="http://schemas.microsoft.com/office/drawing/2014/main" id="{B135A24F-4829-6FB2-8AE8-2007C4E4AFDD}"/>
              </a:ext>
            </a:extLst>
          </p:cNvPr>
          <p:cNvSpPr txBox="1">
            <a:spLocks/>
          </p:cNvSpPr>
          <p:nvPr/>
        </p:nvSpPr>
        <p:spPr>
          <a:xfrm>
            <a:off x="4572000" y="113257"/>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Fira Code"/>
              <a:buNone/>
              <a:defRPr sz="3000" b="0" i="0" u="none" strike="noStrike" cap="none">
                <a:solidFill>
                  <a:schemeClr val="dk2"/>
                </a:solidFill>
                <a:latin typeface="Fira Code"/>
                <a:ea typeface="Fira Code"/>
                <a:cs typeface="Fira Code"/>
                <a:sym typeface="Fira Code"/>
              </a:defRPr>
            </a:lvl1pPr>
            <a:lvl2pPr marR="0" lvl="1"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2pPr>
            <a:lvl3pPr marR="0" lvl="2"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3pPr>
            <a:lvl4pPr marR="0" lvl="3"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4pPr>
            <a:lvl5pPr marR="0" lvl="4"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5pPr>
            <a:lvl6pPr marR="0" lvl="5"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6pPr>
            <a:lvl7pPr marR="0" lvl="6"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7pPr>
            <a:lvl8pPr marR="0" lvl="7"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8pPr>
            <a:lvl9pPr marR="0" lvl="8" algn="ctr" rtl="0">
              <a:lnSpc>
                <a:spcPct val="100000"/>
              </a:lnSpc>
              <a:spcBef>
                <a:spcPts val="0"/>
              </a:spcBef>
              <a:spcAft>
                <a:spcPts val="0"/>
              </a:spcAft>
              <a:buClr>
                <a:schemeClr val="dk1"/>
              </a:buClr>
              <a:buSzPts val="3600"/>
              <a:buFont typeface="Fira Code"/>
              <a:buNone/>
              <a:defRPr sz="3600" b="0" i="0" u="none" strike="noStrike" cap="none">
                <a:solidFill>
                  <a:schemeClr val="dk1"/>
                </a:solidFill>
                <a:latin typeface="Fira Code"/>
                <a:ea typeface="Fira Code"/>
                <a:cs typeface="Fira Code"/>
                <a:sym typeface="Fira Code"/>
              </a:defRPr>
            </a:lvl9pPr>
          </a:lstStyle>
          <a:p>
            <a:pPr algn="ctr"/>
            <a:r>
              <a:rPr lang="en-GB" sz="1600">
                <a:solidFill>
                  <a:schemeClr val="accent3"/>
                </a:solidFill>
              </a:rPr>
              <a:t>Data description</a:t>
            </a:r>
          </a:p>
        </p:txBody>
      </p:sp>
      <p:sp>
        <p:nvSpPr>
          <p:cNvPr id="2" name="文字方塊 1">
            <a:extLst>
              <a:ext uri="{FF2B5EF4-FFF2-40B4-BE49-F238E27FC236}">
                <a16:creationId xmlns:a16="http://schemas.microsoft.com/office/drawing/2014/main" id="{5CDD4D1D-071F-0FE5-1DD6-BB53B05BB7E2}"/>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4</a:t>
            </a:r>
            <a:endParaRPr lang="zh-TW" altLang="en-US" sz="1300">
              <a:solidFill>
                <a:schemeClr val="accent3"/>
              </a:solidFill>
              <a:latin typeface="Fira Code"/>
              <a:cs typeface="Fira Code"/>
              <a:sym typeface="Fira Code"/>
            </a:endParaRPr>
          </a:p>
        </p:txBody>
      </p:sp>
      <p:sp>
        <p:nvSpPr>
          <p:cNvPr id="7" name="Google Shape;579;p33">
            <a:extLst>
              <a:ext uri="{FF2B5EF4-FFF2-40B4-BE49-F238E27FC236}">
                <a16:creationId xmlns:a16="http://schemas.microsoft.com/office/drawing/2014/main" id="{15A4562C-8FA6-2794-35B8-757E1D111E2E}"/>
              </a:ext>
            </a:extLst>
          </p:cNvPr>
          <p:cNvSpPr txBox="1">
            <a:spLocks noGrp="1"/>
          </p:cNvSpPr>
          <p:nvPr>
            <p:ph type="title"/>
          </p:nvPr>
        </p:nvSpPr>
        <p:spPr>
          <a:xfrm>
            <a:off x="1143250" y="582700"/>
            <a:ext cx="72906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solidFill>
                  <a:schemeClr val="accent2"/>
                </a:solidFill>
              </a:rPr>
              <a:t>Data </a:t>
            </a:r>
            <a:r>
              <a:rPr lang="en-GB" sz="2000" dirty="0">
                <a:solidFill>
                  <a:schemeClr val="accent2"/>
                </a:solidFill>
              </a:rPr>
              <a:t>Description</a:t>
            </a:r>
            <a:endParaRPr sz="2400" dirty="0">
              <a:solidFill>
                <a:schemeClr val="accent2"/>
              </a:solidFill>
            </a:endParaRPr>
          </a:p>
        </p:txBody>
      </p:sp>
    </p:spTree>
    <p:extLst>
      <p:ext uri="{BB962C8B-B14F-4D97-AF65-F5344CB8AC3E}">
        <p14:creationId xmlns:p14="http://schemas.microsoft.com/office/powerpoint/2010/main" val="2970341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 name="矩形 4">
            <a:extLst>
              <a:ext uri="{FF2B5EF4-FFF2-40B4-BE49-F238E27FC236}">
                <a16:creationId xmlns:a16="http://schemas.microsoft.com/office/drawing/2014/main" id="{F96B1981-FD1C-3979-FB15-7E32348FACBC}"/>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9" name="Google Shape;579;p33"/>
          <p:cNvSpPr txBox="1">
            <a:spLocks noGrp="1"/>
          </p:cNvSpPr>
          <p:nvPr>
            <p:ph type="title"/>
          </p:nvPr>
        </p:nvSpPr>
        <p:spPr>
          <a:xfrm>
            <a:off x="1143250" y="582700"/>
            <a:ext cx="72906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a:t>Data </a:t>
            </a:r>
            <a:r>
              <a:rPr lang="en-GB" sz="2000"/>
              <a:t>Pre-Processing</a:t>
            </a:r>
            <a:endParaRPr sz="2400">
              <a:solidFill>
                <a:schemeClr val="accent6"/>
              </a:solidFill>
            </a:endParaRPr>
          </a:p>
        </p:txBody>
      </p:sp>
      <p:cxnSp>
        <p:nvCxnSpPr>
          <p:cNvPr id="582" name="Google Shape;582;p33"/>
          <p:cNvCxnSpPr>
            <a:cxnSpLocks/>
          </p:cNvCxnSpPr>
          <p:nvPr/>
        </p:nvCxnSpPr>
        <p:spPr>
          <a:xfrm>
            <a:off x="1307395" y="1175095"/>
            <a:ext cx="0" cy="3348243"/>
          </a:xfrm>
          <a:prstGeom prst="straightConnector1">
            <a:avLst/>
          </a:prstGeom>
          <a:noFill/>
          <a:ln w="9525" cap="flat" cmpd="sng">
            <a:solidFill>
              <a:schemeClr val="accent4"/>
            </a:solidFill>
            <a:prstDash val="solid"/>
            <a:round/>
            <a:headEnd type="none" w="med" len="med"/>
            <a:tailEnd type="none" w="med" len="med"/>
          </a:ln>
        </p:spPr>
      </p:cxnSp>
      <p:sp>
        <p:nvSpPr>
          <p:cNvPr id="583" name="Google Shape;583;p33"/>
          <p:cNvSpPr txBox="1"/>
          <p:nvPr/>
        </p:nvSpPr>
        <p:spPr>
          <a:xfrm>
            <a:off x="1590924" y="1043204"/>
            <a:ext cx="7354954" cy="6425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a:solidFill>
                  <a:schemeClr val="accent1"/>
                </a:solidFill>
                <a:latin typeface="Fira Code"/>
                <a:ea typeface="Fira Code"/>
                <a:cs typeface="Fira Code"/>
                <a:sym typeface="Fira Code"/>
              </a:rPr>
              <a:t>Handling Missing Values</a:t>
            </a:r>
            <a:endParaRPr lang="en-US" sz="1800">
              <a:solidFill>
                <a:schemeClr val="accent6"/>
              </a:solidFill>
              <a:latin typeface="Calibri" panose="020F0502020204030204" pitchFamily="34" charset="0"/>
              <a:ea typeface="Calibri" panose="020F0502020204030204" pitchFamily="34" charset="0"/>
              <a:cs typeface="Calibri" panose="020F0502020204030204" pitchFamily="34" charset="0"/>
              <a:sym typeface="Fira Code"/>
            </a:endParaRPr>
          </a:p>
          <a:p>
            <a:pPr marL="0" lvl="0" indent="0" algn="l" rtl="0">
              <a:spcBef>
                <a:spcPts val="0"/>
              </a:spcBef>
              <a:spcAft>
                <a:spcPts val="0"/>
              </a:spcAft>
              <a:buNone/>
            </a:pPr>
            <a:r>
              <a:rPr lang="en-US">
                <a:solidFill>
                  <a:schemeClr val="accent3"/>
                </a:solidFill>
                <a:latin typeface="Raleway"/>
                <a:ea typeface="Fira Code"/>
                <a:sym typeface="Fira Code"/>
              </a:rPr>
              <a:t>Check the missing values using '</a:t>
            </a:r>
            <a:r>
              <a:rPr lang="en-US" err="1">
                <a:solidFill>
                  <a:schemeClr val="accent3"/>
                </a:solidFill>
                <a:latin typeface="Raleway"/>
                <a:ea typeface="Fira Code"/>
                <a:sym typeface="Fira Code"/>
              </a:rPr>
              <a:t>isnull</a:t>
            </a:r>
            <a:r>
              <a:rPr lang="en-US">
                <a:solidFill>
                  <a:schemeClr val="accent3"/>
                </a:solidFill>
                <a:latin typeface="Raleway"/>
                <a:ea typeface="Fira Code"/>
                <a:sym typeface="Fira Code"/>
              </a:rPr>
              <a:t>().sum()' to count missing values in each column </a:t>
            </a:r>
            <a:r>
              <a:rPr lang="en-US">
                <a:solidFill>
                  <a:schemeClr val="accent6"/>
                </a:solidFill>
                <a:latin typeface="Fira Code"/>
                <a:ea typeface="Fira Code"/>
                <a:cs typeface="Fira Code"/>
                <a:sym typeface="Fira Code"/>
              </a:rPr>
              <a:t>​</a:t>
            </a:r>
          </a:p>
        </p:txBody>
      </p:sp>
      <p:sp>
        <p:nvSpPr>
          <p:cNvPr id="584" name="Google Shape;584;p33"/>
          <p:cNvSpPr txBox="1"/>
          <p:nvPr/>
        </p:nvSpPr>
        <p:spPr>
          <a:xfrm>
            <a:off x="1590916" y="1753085"/>
            <a:ext cx="7290593" cy="5411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800">
                <a:solidFill>
                  <a:schemeClr val="accent1"/>
                </a:solidFill>
                <a:latin typeface="Fira Code"/>
                <a:ea typeface="Fira Code"/>
                <a:cs typeface="Fira Code"/>
                <a:sym typeface="Fira Code"/>
              </a:rPr>
              <a:t>Data Transformation</a:t>
            </a:r>
          </a:p>
          <a:p>
            <a:pPr marL="0" lvl="0" indent="0" algn="l" rtl="0">
              <a:spcBef>
                <a:spcPts val="0"/>
              </a:spcBef>
              <a:spcAft>
                <a:spcPts val="0"/>
              </a:spcAft>
              <a:buNone/>
            </a:pPr>
            <a:r>
              <a:rPr lang="en-US" altLang="zh-TW">
                <a:solidFill>
                  <a:schemeClr val="accent3"/>
                </a:solidFill>
                <a:latin typeface="Raleway"/>
                <a:ea typeface="Fira Code"/>
              </a:rPr>
              <a:t>Converted the 'date' column to datetime format using '</a:t>
            </a:r>
            <a:r>
              <a:rPr lang="en-US" altLang="zh-TW" err="1">
                <a:solidFill>
                  <a:schemeClr val="accent3"/>
                </a:solidFill>
                <a:latin typeface="Raleway"/>
                <a:ea typeface="Fira Code"/>
              </a:rPr>
              <a:t>pd.to_datetime</a:t>
            </a:r>
            <a:r>
              <a:rPr lang="en-US" altLang="zh-TW">
                <a:solidFill>
                  <a:schemeClr val="accent3"/>
                </a:solidFill>
                <a:latin typeface="Raleway"/>
                <a:ea typeface="Fira Code"/>
              </a:rPr>
              <a:t>()'</a:t>
            </a:r>
            <a:endParaRPr lang="en-GB">
              <a:solidFill>
                <a:schemeClr val="accent3"/>
              </a:solidFill>
              <a:latin typeface="Raleway"/>
              <a:ea typeface="Fira Code"/>
              <a:sym typeface="Fira Code"/>
            </a:endParaRPr>
          </a:p>
        </p:txBody>
      </p:sp>
      <p:sp>
        <p:nvSpPr>
          <p:cNvPr id="629" name="Google Shape;629;p33"/>
          <p:cNvSpPr txBox="1">
            <a:spLocks noGrp="1"/>
          </p:cNvSpPr>
          <p:nvPr>
            <p:ph type="subTitle" idx="4294967295"/>
          </p:nvPr>
        </p:nvSpPr>
        <p:spPr>
          <a:xfrm>
            <a:off x="4572000"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accent3"/>
                </a:solidFill>
              </a:rPr>
              <a:t>Data Pre-Processing</a:t>
            </a:r>
            <a:endParaRPr sz="1600">
              <a:solidFill>
                <a:schemeClr val="accent3"/>
              </a:solidFill>
            </a:endParaRPr>
          </a:p>
        </p:txBody>
      </p:sp>
      <p:sp>
        <p:nvSpPr>
          <p:cNvPr id="2" name="Google Shape;584;p33">
            <a:extLst>
              <a:ext uri="{FF2B5EF4-FFF2-40B4-BE49-F238E27FC236}">
                <a16:creationId xmlns:a16="http://schemas.microsoft.com/office/drawing/2014/main" id="{79EE0AED-8AF3-EF7D-582C-B9CE2D705A99}"/>
              </a:ext>
            </a:extLst>
          </p:cNvPr>
          <p:cNvSpPr txBox="1"/>
          <p:nvPr/>
        </p:nvSpPr>
        <p:spPr>
          <a:xfrm>
            <a:off x="1590916" y="2355565"/>
            <a:ext cx="5034852" cy="39880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1800">
                <a:solidFill>
                  <a:schemeClr val="accent1"/>
                </a:solidFill>
                <a:latin typeface="Fira Code"/>
                <a:ea typeface="Fira Code"/>
                <a:cs typeface="Fira Code"/>
                <a:sym typeface="Fira Code"/>
              </a:rPr>
              <a:t>Check for Updated Processing</a:t>
            </a:r>
          </a:p>
        </p:txBody>
      </p:sp>
      <p:pic>
        <p:nvPicPr>
          <p:cNvPr id="3" name="Picture 7" descr="A screenshot of a computer program&#10;&#10;Description automatically generated">
            <a:extLst>
              <a:ext uri="{FF2B5EF4-FFF2-40B4-BE49-F238E27FC236}">
                <a16:creationId xmlns:a16="http://schemas.microsoft.com/office/drawing/2014/main" id="{26587D19-83C8-0FE2-4629-E08973FF3F28}"/>
              </a:ext>
            </a:extLst>
          </p:cNvPr>
          <p:cNvPicPr>
            <a:picLocks noChangeAspect="1"/>
          </p:cNvPicPr>
          <p:nvPr/>
        </p:nvPicPr>
        <p:blipFill>
          <a:blip r:embed="rId3"/>
          <a:stretch>
            <a:fillRect/>
          </a:stretch>
        </p:blipFill>
        <p:spPr>
          <a:xfrm>
            <a:off x="2454939" y="2849217"/>
            <a:ext cx="4667222" cy="1343798"/>
          </a:xfrm>
          <a:prstGeom prst="rect">
            <a:avLst/>
          </a:prstGeom>
        </p:spPr>
      </p:pic>
      <p:sp>
        <p:nvSpPr>
          <p:cNvPr id="6" name="文字方塊 5">
            <a:extLst>
              <a:ext uri="{FF2B5EF4-FFF2-40B4-BE49-F238E27FC236}">
                <a16:creationId xmlns:a16="http://schemas.microsoft.com/office/drawing/2014/main" id="{FB73A6F0-806D-77A6-6D3E-DB8F5C1E5CE1}"/>
              </a:ext>
            </a:extLst>
          </p:cNvPr>
          <p:cNvSpPr txBox="1"/>
          <p:nvPr/>
        </p:nvSpPr>
        <p:spPr>
          <a:xfrm>
            <a:off x="1590916" y="4285080"/>
            <a:ext cx="7553076" cy="369332"/>
          </a:xfrm>
          <a:prstGeom prst="rect">
            <a:avLst/>
          </a:prstGeom>
          <a:noFill/>
        </p:spPr>
        <p:txBody>
          <a:bodyPr wrap="square">
            <a:spAutoFit/>
          </a:bodyPr>
          <a:lstStyle/>
          <a:p>
            <a:pPr>
              <a:defRPr sz="3600">
                <a:latin typeface="Calibri"/>
              </a:defRPr>
            </a:pPr>
            <a:r>
              <a:rPr lang="en-US" altLang="zh-TW" sz="1800">
                <a:solidFill>
                  <a:schemeClr val="accent1"/>
                </a:solidFill>
                <a:latin typeface="Fira Code"/>
                <a:ea typeface="Fira Code"/>
                <a:cs typeface="Fira Code"/>
              </a:rPr>
              <a:t>Data Saving: Saved the processed data into a CSV file</a:t>
            </a:r>
          </a:p>
        </p:txBody>
      </p:sp>
      <p:sp>
        <p:nvSpPr>
          <p:cNvPr id="4" name="Google Shape;543;p31">
            <a:extLst>
              <a:ext uri="{FF2B5EF4-FFF2-40B4-BE49-F238E27FC236}">
                <a16:creationId xmlns:a16="http://schemas.microsoft.com/office/drawing/2014/main" id="{3D6B6FDA-82D6-E4B6-0869-5D477596BB29}"/>
              </a:ext>
            </a:extLst>
          </p:cNvPr>
          <p:cNvSpPr txBox="1">
            <a:spLocks/>
          </p:cNvSpPr>
          <p:nvPr/>
        </p:nvSpPr>
        <p:spPr>
          <a:xfrm>
            <a:off x="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lgn="ctr"/>
            <a:r>
              <a:rPr lang="en-GB" sz="1600"/>
              <a:t>Data description</a:t>
            </a:r>
          </a:p>
        </p:txBody>
      </p:sp>
      <p:sp>
        <p:nvSpPr>
          <p:cNvPr id="7" name="文字方塊 6">
            <a:extLst>
              <a:ext uri="{FF2B5EF4-FFF2-40B4-BE49-F238E27FC236}">
                <a16:creationId xmlns:a16="http://schemas.microsoft.com/office/drawing/2014/main" id="{BEDAC8B5-20CE-2721-4DF4-59BEB27D8147}"/>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5</a:t>
            </a:r>
            <a:endParaRPr lang="zh-TW" altLang="en-US" sz="1300">
              <a:solidFill>
                <a:schemeClr val="accent3"/>
              </a:solidFill>
              <a:latin typeface="Fira Code"/>
              <a:cs typeface="Fira Code"/>
              <a:sym typeface="Fira Cod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3" name="矩形 2">
            <a:extLst>
              <a:ext uri="{FF2B5EF4-FFF2-40B4-BE49-F238E27FC236}">
                <a16:creationId xmlns:a16="http://schemas.microsoft.com/office/drawing/2014/main" id="{8131A9B3-6301-0FF6-9F86-3E116CA78DEB}"/>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28B60CDE-B1F7-5827-3F32-21F452A13101}"/>
              </a:ext>
            </a:extLst>
          </p:cNvPr>
          <p:cNvSpPr/>
          <p:nvPr/>
        </p:nvSpPr>
        <p:spPr>
          <a:xfrm rot="5400000">
            <a:off x="-1309258" y="1901833"/>
            <a:ext cx="4475022"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0" name="Google Shape;570;p32"/>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accent3"/>
                </a:solidFill>
              </a:rPr>
              <a:t>EDA</a:t>
            </a:r>
            <a:endParaRPr sz="1600">
              <a:solidFill>
                <a:schemeClr val="accent3"/>
              </a:solidFill>
            </a:endParaRPr>
          </a:p>
        </p:txBody>
      </p:sp>
      <p:sp>
        <p:nvSpPr>
          <p:cNvPr id="5" name="TextBox 15">
            <a:extLst>
              <a:ext uri="{FF2B5EF4-FFF2-40B4-BE49-F238E27FC236}">
                <a16:creationId xmlns:a16="http://schemas.microsoft.com/office/drawing/2014/main" id="{21CBDB98-F3FA-7994-B137-E5E8EE90A424}"/>
              </a:ext>
            </a:extLst>
          </p:cNvPr>
          <p:cNvSpPr txBox="1"/>
          <p:nvPr/>
        </p:nvSpPr>
        <p:spPr>
          <a:xfrm>
            <a:off x="352775" y="980980"/>
            <a:ext cx="3129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solidFill>
                  <a:schemeClr val="accent3"/>
                </a:solidFill>
                <a:latin typeface="Raleway"/>
                <a:ea typeface="Fira Code"/>
                <a:sym typeface="Fira Code"/>
              </a:rPr>
              <a:t>Sales Trends Analysis</a:t>
            </a:r>
          </a:p>
        </p:txBody>
      </p:sp>
      <p:pic>
        <p:nvPicPr>
          <p:cNvPr id="8" name="Picture Placeholder 9" descr="一張含有 文字, 螢幕擷取畫面, 繪圖, 圖表 的圖片&#10;&#10;自動產生的描述">
            <a:extLst>
              <a:ext uri="{FF2B5EF4-FFF2-40B4-BE49-F238E27FC236}">
                <a16:creationId xmlns:a16="http://schemas.microsoft.com/office/drawing/2014/main" id="{205DC37F-6DB5-2348-E37C-EB743E0BCA75}"/>
              </a:ext>
            </a:extLst>
          </p:cNvPr>
          <p:cNvPicPr>
            <a:picLocks noChangeAspect="1"/>
          </p:cNvPicPr>
          <p:nvPr/>
        </p:nvPicPr>
        <p:blipFill>
          <a:blip r:embed="rId3"/>
          <a:srcRect l="19638" r="19638"/>
          <a:stretch/>
        </p:blipFill>
        <p:spPr>
          <a:xfrm>
            <a:off x="1594101" y="1511680"/>
            <a:ext cx="5943848" cy="3334261"/>
          </a:xfrm>
          <a:prstGeom prst="rect">
            <a:avLst/>
          </a:prstGeom>
        </p:spPr>
      </p:pic>
      <p:sp>
        <p:nvSpPr>
          <p:cNvPr id="16" name="Google Shape;561;p32">
            <a:extLst>
              <a:ext uri="{FF2B5EF4-FFF2-40B4-BE49-F238E27FC236}">
                <a16:creationId xmlns:a16="http://schemas.microsoft.com/office/drawing/2014/main" id="{7485D9BE-0D30-DA91-7644-FB918E8CA02D}"/>
              </a:ext>
            </a:extLst>
          </p:cNvPr>
          <p:cNvSpPr txBox="1">
            <a:spLocks noGrp="1"/>
          </p:cNvSpPr>
          <p:nvPr>
            <p:ph type="title"/>
          </p:nvPr>
        </p:nvSpPr>
        <p:spPr>
          <a:xfrm>
            <a:off x="369499" y="569289"/>
            <a:ext cx="6845438" cy="53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zh-TW" sz="2000">
                <a:solidFill>
                  <a:schemeClr val="accent2"/>
                </a:solidFill>
              </a:rPr>
              <a:t>Extensive Exploratory Data Analysis</a:t>
            </a:r>
            <a:endParaRPr sz="2400">
              <a:solidFill>
                <a:schemeClr val="accent6"/>
              </a:solidFill>
            </a:endParaRPr>
          </a:p>
        </p:txBody>
      </p:sp>
      <p:sp>
        <p:nvSpPr>
          <p:cNvPr id="4" name="Google Shape;629;p33">
            <a:extLst>
              <a:ext uri="{FF2B5EF4-FFF2-40B4-BE49-F238E27FC236}">
                <a16:creationId xmlns:a16="http://schemas.microsoft.com/office/drawing/2014/main" id="{856D29EF-B6AE-99B4-E2E6-93CC13375BA9}"/>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Workflow</a:t>
            </a:r>
          </a:p>
        </p:txBody>
      </p:sp>
      <p:sp>
        <p:nvSpPr>
          <p:cNvPr id="2" name="文字方塊 1">
            <a:extLst>
              <a:ext uri="{FF2B5EF4-FFF2-40B4-BE49-F238E27FC236}">
                <a16:creationId xmlns:a16="http://schemas.microsoft.com/office/drawing/2014/main" id="{845FD8EC-1F4D-DFCF-841B-4D97657B045E}"/>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6</a:t>
            </a:r>
            <a:endParaRPr lang="zh-TW" altLang="en-US" sz="1300">
              <a:solidFill>
                <a:schemeClr val="accent3"/>
              </a:solidFill>
              <a:latin typeface="Fira Code"/>
              <a:cs typeface="Fira Code"/>
              <a:sym typeface="Fira Code"/>
            </a:endParaRPr>
          </a:p>
        </p:txBody>
      </p:sp>
    </p:spTree>
    <p:extLst>
      <p:ext uri="{BB962C8B-B14F-4D97-AF65-F5344CB8AC3E}">
        <p14:creationId xmlns:p14="http://schemas.microsoft.com/office/powerpoint/2010/main" val="134056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3" name="矩形 2">
            <a:extLst>
              <a:ext uri="{FF2B5EF4-FFF2-40B4-BE49-F238E27FC236}">
                <a16:creationId xmlns:a16="http://schemas.microsoft.com/office/drawing/2014/main" id="{7FDE3FD0-88BE-E445-8052-3A42A74CE3C3}"/>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Google Shape;570;p32">
            <a:extLst>
              <a:ext uri="{FF2B5EF4-FFF2-40B4-BE49-F238E27FC236}">
                <a16:creationId xmlns:a16="http://schemas.microsoft.com/office/drawing/2014/main" id="{07BE7F91-B5DC-7EE4-F24F-0BE3DE48626D}"/>
              </a:ext>
            </a:extLst>
          </p:cNvPr>
          <p:cNvSpPr txBox="1">
            <a:spLocks/>
          </p:cNvSpPr>
          <p:nvPr/>
        </p:nvSpPr>
        <p:spPr>
          <a:xfrm>
            <a:off x="-5975"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2100"/>
              <a:buFont typeface="Fira Code"/>
              <a:buNone/>
              <a:defRPr sz="1400" b="0" i="0" u="none" strike="noStrike" cap="none">
                <a:solidFill>
                  <a:schemeClr val="dk2"/>
                </a:solidFill>
                <a:latin typeface="Fira Code"/>
                <a:ea typeface="Fira Code"/>
                <a:cs typeface="Fira Code"/>
                <a:sym typeface="Fira Code"/>
              </a:defRPr>
            </a:lvl1pPr>
            <a:lvl2pPr marL="914400" marR="0" lvl="1"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2pPr>
            <a:lvl3pPr marL="1371600" marR="0" lvl="2"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3pPr>
            <a:lvl4pPr marL="1828800" marR="0" lvl="3"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4pPr>
            <a:lvl5pPr marL="2286000" marR="0" lvl="4"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5pPr>
            <a:lvl6pPr marL="2743200" marR="0" lvl="5"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6pPr>
            <a:lvl7pPr marL="3200400" marR="0" lvl="6"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7pPr>
            <a:lvl8pPr marL="3657600" marR="0" lvl="7"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8pPr>
            <a:lvl9pPr marL="4114800" marR="0" lvl="8" indent="-317500" algn="ctr" rtl="0">
              <a:lnSpc>
                <a:spcPct val="100000"/>
              </a:lnSpc>
              <a:spcBef>
                <a:spcPts val="0"/>
              </a:spcBef>
              <a:spcAft>
                <a:spcPts val="0"/>
              </a:spcAft>
              <a:buClr>
                <a:schemeClr val="dk2"/>
              </a:buClr>
              <a:buSzPts val="2100"/>
              <a:buFont typeface="Fira Code"/>
              <a:buNone/>
              <a:defRPr sz="2100" b="0" i="0" u="none" strike="noStrike" cap="none">
                <a:solidFill>
                  <a:schemeClr val="dk2"/>
                </a:solidFill>
                <a:latin typeface="Fira Code"/>
                <a:ea typeface="Fira Code"/>
                <a:cs typeface="Fira Code"/>
                <a:sym typeface="Fira Code"/>
              </a:defRPr>
            </a:lvl9pPr>
          </a:lstStyle>
          <a:p>
            <a:pPr marL="0" indent="0" algn="ctr"/>
            <a:r>
              <a:rPr lang="en-GB" sz="1600">
                <a:solidFill>
                  <a:schemeClr val="accent3"/>
                </a:solidFill>
              </a:rPr>
              <a:t>EDA</a:t>
            </a:r>
          </a:p>
        </p:txBody>
      </p:sp>
      <p:sp>
        <p:nvSpPr>
          <p:cNvPr id="9" name="矩形 8">
            <a:extLst>
              <a:ext uri="{FF2B5EF4-FFF2-40B4-BE49-F238E27FC236}">
                <a16:creationId xmlns:a16="http://schemas.microsoft.com/office/drawing/2014/main" id="{DF3368DE-0499-FA27-ED0F-1CE957C6ACE9}"/>
              </a:ext>
            </a:extLst>
          </p:cNvPr>
          <p:cNvSpPr/>
          <p:nvPr/>
        </p:nvSpPr>
        <p:spPr>
          <a:xfrm rot="5400000">
            <a:off x="-1309258" y="1901833"/>
            <a:ext cx="4475022"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Google Shape;561;p32">
            <a:extLst>
              <a:ext uri="{FF2B5EF4-FFF2-40B4-BE49-F238E27FC236}">
                <a16:creationId xmlns:a16="http://schemas.microsoft.com/office/drawing/2014/main" id="{6E06B5B1-E100-AB7F-99C1-7EEE7273A449}"/>
              </a:ext>
            </a:extLst>
          </p:cNvPr>
          <p:cNvSpPr txBox="1">
            <a:spLocks noGrp="1"/>
          </p:cNvSpPr>
          <p:nvPr>
            <p:ph type="title"/>
          </p:nvPr>
        </p:nvSpPr>
        <p:spPr>
          <a:xfrm>
            <a:off x="369499" y="569289"/>
            <a:ext cx="6845438" cy="53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zh-TW" sz="2000">
                <a:solidFill>
                  <a:schemeClr val="accent2"/>
                </a:solidFill>
              </a:rPr>
              <a:t>Extensive Exploratory Data Analysis</a:t>
            </a:r>
            <a:endParaRPr sz="2400">
              <a:solidFill>
                <a:schemeClr val="accent6"/>
              </a:solidFill>
            </a:endParaRPr>
          </a:p>
        </p:txBody>
      </p:sp>
      <p:sp>
        <p:nvSpPr>
          <p:cNvPr id="15" name="Google Shape;629;p33">
            <a:extLst>
              <a:ext uri="{FF2B5EF4-FFF2-40B4-BE49-F238E27FC236}">
                <a16:creationId xmlns:a16="http://schemas.microsoft.com/office/drawing/2014/main" id="{DD55FA04-4F7D-55D9-1D96-114FF6B9658D}"/>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Workflow</a:t>
            </a:r>
          </a:p>
        </p:txBody>
      </p:sp>
      <p:sp>
        <p:nvSpPr>
          <p:cNvPr id="2" name="文字方塊 1">
            <a:extLst>
              <a:ext uri="{FF2B5EF4-FFF2-40B4-BE49-F238E27FC236}">
                <a16:creationId xmlns:a16="http://schemas.microsoft.com/office/drawing/2014/main" id="{CD58858B-81C7-EF22-54C0-031E44947B1B}"/>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7</a:t>
            </a:r>
            <a:endParaRPr lang="zh-TW" altLang="en-US" sz="1300">
              <a:solidFill>
                <a:schemeClr val="accent3"/>
              </a:solidFill>
              <a:latin typeface="Fira Code"/>
              <a:cs typeface="Fira Code"/>
              <a:sym typeface="Fira Code"/>
            </a:endParaRPr>
          </a:p>
        </p:txBody>
      </p:sp>
      <p:pic>
        <p:nvPicPr>
          <p:cNvPr id="11" name="圖片 10" descr="一張含有 文字, 螢幕擷取畫面, 平行, 圖表 的圖片&#10;&#10;自動產生的描述">
            <a:extLst>
              <a:ext uri="{FF2B5EF4-FFF2-40B4-BE49-F238E27FC236}">
                <a16:creationId xmlns:a16="http://schemas.microsoft.com/office/drawing/2014/main" id="{C14F647C-A447-D59E-1634-525D4D9D05E0}"/>
              </a:ext>
            </a:extLst>
          </p:cNvPr>
          <p:cNvPicPr>
            <a:picLocks noChangeAspect="1"/>
          </p:cNvPicPr>
          <p:nvPr/>
        </p:nvPicPr>
        <p:blipFill rotWithShape="1">
          <a:blip r:embed="rId3"/>
          <a:srcRect t="4372" b="3838"/>
          <a:stretch/>
        </p:blipFill>
        <p:spPr>
          <a:xfrm>
            <a:off x="1787963" y="1112138"/>
            <a:ext cx="5794655" cy="40145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4" name="矩形 3">
            <a:extLst>
              <a:ext uri="{FF2B5EF4-FFF2-40B4-BE49-F238E27FC236}">
                <a16:creationId xmlns:a16="http://schemas.microsoft.com/office/drawing/2014/main" id="{AB699B53-5914-D5DB-4159-0FFB79F5FAB4}"/>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B95D8075-5490-5A30-95B4-7D7935926030}"/>
              </a:ext>
            </a:extLst>
          </p:cNvPr>
          <p:cNvSpPr/>
          <p:nvPr/>
        </p:nvSpPr>
        <p:spPr>
          <a:xfrm rot="5400000">
            <a:off x="-1309258" y="1901833"/>
            <a:ext cx="4475022"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1" name="Google Shape;561;p32"/>
          <p:cNvSpPr txBox="1">
            <a:spLocks noGrp="1"/>
          </p:cNvSpPr>
          <p:nvPr>
            <p:ph type="title"/>
          </p:nvPr>
        </p:nvSpPr>
        <p:spPr>
          <a:xfrm>
            <a:off x="369499" y="569289"/>
            <a:ext cx="6845438" cy="53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zh-TW" sz="2000">
                <a:solidFill>
                  <a:schemeClr val="accent2"/>
                </a:solidFill>
              </a:rPr>
              <a:t>Extensive Exploratory Data Analysis</a:t>
            </a:r>
            <a:endParaRPr sz="2400">
              <a:solidFill>
                <a:schemeClr val="accent6"/>
              </a:solidFill>
            </a:endParaRPr>
          </a:p>
        </p:txBody>
      </p:sp>
      <p:sp>
        <p:nvSpPr>
          <p:cNvPr id="570" name="Google Shape;570;p32"/>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accent3"/>
                </a:solidFill>
              </a:rPr>
              <a:t>EDA</a:t>
            </a:r>
            <a:endParaRPr sz="1600">
              <a:solidFill>
                <a:schemeClr val="accent3"/>
              </a:solidFill>
            </a:endParaRPr>
          </a:p>
        </p:txBody>
      </p:sp>
      <p:sp>
        <p:nvSpPr>
          <p:cNvPr id="7" name="Google Shape;629;p33">
            <a:extLst>
              <a:ext uri="{FF2B5EF4-FFF2-40B4-BE49-F238E27FC236}">
                <a16:creationId xmlns:a16="http://schemas.microsoft.com/office/drawing/2014/main" id="{46D84A96-FC48-85BC-ECA4-50528F54C5BD}"/>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Workflow</a:t>
            </a:r>
          </a:p>
        </p:txBody>
      </p:sp>
      <p:sp>
        <p:nvSpPr>
          <p:cNvPr id="2" name="文字方塊 1">
            <a:extLst>
              <a:ext uri="{FF2B5EF4-FFF2-40B4-BE49-F238E27FC236}">
                <a16:creationId xmlns:a16="http://schemas.microsoft.com/office/drawing/2014/main" id="{246A25B0-FD1D-144A-FC07-6A3610692CEF}"/>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8</a:t>
            </a:r>
            <a:endParaRPr lang="zh-TW" altLang="en-US" sz="1300">
              <a:solidFill>
                <a:schemeClr val="accent3"/>
              </a:solidFill>
              <a:latin typeface="Fira Code"/>
              <a:cs typeface="Fira Code"/>
              <a:sym typeface="Fira Code"/>
            </a:endParaRPr>
          </a:p>
        </p:txBody>
      </p:sp>
      <p:pic>
        <p:nvPicPr>
          <p:cNvPr id="5" name="Picture 4">
            <a:extLst>
              <a:ext uri="{FF2B5EF4-FFF2-40B4-BE49-F238E27FC236}">
                <a16:creationId xmlns:a16="http://schemas.microsoft.com/office/drawing/2014/main" id="{344518FF-09FC-C287-16FB-5E73180DD4B4}"/>
              </a:ext>
            </a:extLst>
          </p:cNvPr>
          <p:cNvPicPr>
            <a:picLocks noChangeAspect="1"/>
          </p:cNvPicPr>
          <p:nvPr/>
        </p:nvPicPr>
        <p:blipFill>
          <a:blip r:embed="rId3"/>
          <a:stretch>
            <a:fillRect/>
          </a:stretch>
        </p:blipFill>
        <p:spPr>
          <a:xfrm>
            <a:off x="-5974" y="1154242"/>
            <a:ext cx="9149974" cy="3989257"/>
          </a:xfrm>
          <a:prstGeom prst="rect">
            <a:avLst/>
          </a:prstGeom>
        </p:spPr>
      </p:pic>
    </p:spTree>
    <p:extLst>
      <p:ext uri="{BB962C8B-B14F-4D97-AF65-F5344CB8AC3E}">
        <p14:creationId xmlns:p14="http://schemas.microsoft.com/office/powerpoint/2010/main" val="1670523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4" name="矩形 3">
            <a:extLst>
              <a:ext uri="{FF2B5EF4-FFF2-40B4-BE49-F238E27FC236}">
                <a16:creationId xmlns:a16="http://schemas.microsoft.com/office/drawing/2014/main" id="{0C26C586-2C04-72D1-47F5-6A88C9931D1B}"/>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0" name="Google Shape;570;p32"/>
          <p:cNvSpPr txBox="1">
            <a:spLocks noGrp="1"/>
          </p:cNvSpPr>
          <p:nvPr>
            <p:ph type="subTitle" idx="1"/>
          </p:nvPr>
        </p:nvSpPr>
        <p:spPr>
          <a:xfrm>
            <a:off x="-5975" y="91525"/>
            <a:ext cx="4572000" cy="357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accent3"/>
                </a:solidFill>
              </a:rPr>
              <a:t>EDA</a:t>
            </a:r>
            <a:endParaRPr sz="1600">
              <a:solidFill>
                <a:schemeClr val="accent3"/>
              </a:solidFill>
            </a:endParaRPr>
          </a:p>
        </p:txBody>
      </p:sp>
      <p:sp>
        <p:nvSpPr>
          <p:cNvPr id="11" name="矩形 10">
            <a:extLst>
              <a:ext uri="{FF2B5EF4-FFF2-40B4-BE49-F238E27FC236}">
                <a16:creationId xmlns:a16="http://schemas.microsoft.com/office/drawing/2014/main" id="{F7EAD56D-164C-FF43-C288-58C912596722}"/>
              </a:ext>
            </a:extLst>
          </p:cNvPr>
          <p:cNvSpPr/>
          <p:nvPr/>
        </p:nvSpPr>
        <p:spPr>
          <a:xfrm rot="5400000">
            <a:off x="-1309258" y="1901833"/>
            <a:ext cx="4475022"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Google Shape;561;p32">
            <a:extLst>
              <a:ext uri="{FF2B5EF4-FFF2-40B4-BE49-F238E27FC236}">
                <a16:creationId xmlns:a16="http://schemas.microsoft.com/office/drawing/2014/main" id="{F48F2D09-C238-852A-3B02-198715B82A1B}"/>
              </a:ext>
            </a:extLst>
          </p:cNvPr>
          <p:cNvSpPr txBox="1">
            <a:spLocks noGrp="1"/>
          </p:cNvSpPr>
          <p:nvPr>
            <p:ph type="title"/>
          </p:nvPr>
        </p:nvSpPr>
        <p:spPr>
          <a:xfrm>
            <a:off x="369499" y="569289"/>
            <a:ext cx="6845438" cy="530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altLang="zh-TW" sz="2000" dirty="0">
                <a:solidFill>
                  <a:schemeClr val="accent2"/>
                </a:solidFill>
              </a:rPr>
              <a:t>Extensive Exploratory Data Analysis</a:t>
            </a:r>
            <a:endParaRPr sz="2400" dirty="0">
              <a:solidFill>
                <a:schemeClr val="accent6"/>
              </a:solidFill>
            </a:endParaRPr>
          </a:p>
        </p:txBody>
      </p:sp>
      <p:sp>
        <p:nvSpPr>
          <p:cNvPr id="3" name="Google Shape;629;p33">
            <a:extLst>
              <a:ext uri="{FF2B5EF4-FFF2-40B4-BE49-F238E27FC236}">
                <a16:creationId xmlns:a16="http://schemas.microsoft.com/office/drawing/2014/main" id="{65598876-D8CA-7C98-ED86-75BC657CD428}"/>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Workflow</a:t>
            </a:r>
          </a:p>
        </p:txBody>
      </p:sp>
      <p:sp>
        <p:nvSpPr>
          <p:cNvPr id="2" name="文字方塊 1">
            <a:extLst>
              <a:ext uri="{FF2B5EF4-FFF2-40B4-BE49-F238E27FC236}">
                <a16:creationId xmlns:a16="http://schemas.microsoft.com/office/drawing/2014/main" id="{E7192CED-C1D3-6BCA-BCC4-2DB7C18C02D8}"/>
              </a:ext>
            </a:extLst>
          </p:cNvPr>
          <p:cNvSpPr txBox="1"/>
          <p:nvPr/>
        </p:nvSpPr>
        <p:spPr>
          <a:xfrm>
            <a:off x="8859948" y="4843799"/>
            <a:ext cx="284052"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9</a:t>
            </a:r>
            <a:endParaRPr lang="zh-TW" altLang="en-US" sz="1300">
              <a:solidFill>
                <a:schemeClr val="accent3"/>
              </a:solidFill>
              <a:latin typeface="Fira Code"/>
              <a:cs typeface="Fira Code"/>
              <a:sym typeface="Fira Code"/>
            </a:endParaRPr>
          </a:p>
        </p:txBody>
      </p:sp>
      <p:pic>
        <p:nvPicPr>
          <p:cNvPr id="8" name="圖片 7" descr="一張含有 螢幕擷取畫面, 圖表, 圓形, 文字 的圖片&#10;&#10;自動產生的描述">
            <a:extLst>
              <a:ext uri="{FF2B5EF4-FFF2-40B4-BE49-F238E27FC236}">
                <a16:creationId xmlns:a16="http://schemas.microsoft.com/office/drawing/2014/main" id="{B7F5D97F-78F5-68CD-8E23-040BE7AB5B8A}"/>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0774" b="94992" l="2335" r="89754">
                        <a14:foregroundMark x1="19326" y1="26100" x2="29313" y2="34750"/>
                        <a14:foregroundMark x1="36706" y1="42640" x2="46044" y2="50076"/>
                        <a14:foregroundMark x1="40726" y1="42185" x2="43450" y2="47951"/>
                        <a14:foregroundMark x1="35019" y1="88619" x2="55512" y2="92109"/>
                        <a14:foregroundMark x1="30739" y1="16237" x2="50973" y2="13505"/>
                        <a14:foregroundMark x1="50973" y1="13505" x2="53178" y2="14112"/>
                        <a14:foregroundMark x1="19326" y1="34446" x2="23995" y2="25341"/>
                        <a14:foregroundMark x1="18547" y1="36874" x2="17121" y2="37329"/>
                        <a14:foregroundMark x1="16602" y1="35812" x2="14397" y2="38998"/>
                        <a14:foregroundMark x1="15824" y1="33687" x2="14137" y2="42185"/>
                        <a14:foregroundMark x1="16602" y1="32625" x2="13230" y2="44917"/>
                        <a14:foregroundMark x1="13230" y1="44917" x2="12840" y2="45675"/>
                        <a14:foregroundMark x1="14656" y1="37633" x2="14656" y2="38392"/>
                        <a14:foregroundMark x1="14137" y1="41730" x2="13619" y2="41730"/>
                        <a14:foregroundMark x1="41764" y1="11381" x2="52529" y2="10774"/>
                        <a14:foregroundMark x1="52529" y1="10774" x2="53307" y2="11381"/>
                        <a14:foregroundMark x1="70687" y1="84977" x2="78599" y2="73445"/>
                        <a14:foregroundMark x1="67315" y1="65554" x2="58625" y2="71320"/>
                        <a14:foregroundMark x1="58625" y1="71320" x2="31258" y2="69347"/>
                        <a14:foregroundMark x1="31258" y1="69347" x2="27108" y2="62974"/>
                        <a14:foregroundMark x1="13489" y1="42792" x2="13230" y2="57511"/>
                        <a14:foregroundMark x1="13230" y1="57511" x2="20882" y2="80121"/>
                        <a14:foregroundMark x1="20882" y1="80121" x2="25162" y2="83763"/>
                        <a14:foregroundMark x1="15564" y1="69954" x2="17510" y2="75114"/>
                        <a14:foregroundMark x1="16732" y1="72079" x2="15824" y2="70258"/>
                        <a14:foregroundMark x1="15045" y1="68892" x2="12711" y2="55083"/>
                        <a14:foregroundMark x1="12711" y1="55083" x2="16602" y2="32777"/>
                        <a14:foregroundMark x1="13748" y1="65099" x2="13748" y2="65099"/>
                        <a14:foregroundMark x1="12840" y1="62519" x2="12840" y2="62519"/>
                        <a14:foregroundMark x1="12840" y1="62519" x2="12711" y2="59484"/>
                        <a14:foregroundMark x1="12711" y1="58725" x2="12322" y2="50986"/>
                        <a14:foregroundMark x1="11933" y1="57967" x2="12711" y2="44917"/>
                        <a14:foregroundMark x1="12451" y1="53566" x2="16213" y2="33991"/>
                        <a14:foregroundMark x1="22049" y1="81791" x2="31777" y2="89530"/>
                        <a14:foregroundMark x1="31777" y1="89530" x2="40337" y2="92868"/>
                        <a14:foregroundMark x1="25551" y1="86039" x2="27367" y2="86646"/>
                        <a14:foregroundMark x1="27497" y1="86646" x2="34630" y2="91199"/>
                        <a14:foregroundMark x1="28794" y1="87709" x2="40986" y2="93323"/>
                        <a14:foregroundMark x1="34630" y1="91654" x2="46304" y2="94234"/>
                        <a14:foregroundMark x1="46304" y1="94234" x2="65432" y2="89429"/>
                        <a14:foregroundMark x1="36835" y1="92868" x2="42672" y2="94992"/>
                        <a14:foregroundMark x1="43450" y1="94537" x2="49287" y2="94385"/>
                        <a14:foregroundMark x1="47860" y1="94992" x2="52789" y2="94537"/>
                        <a14:foregroundMark x1="52010" y1="94841" x2="55512" y2="93323"/>
                        <a14:foregroundMark x1="54345" y1="94841" x2="65494" y2="89271"/>
                        <a14:foregroundMark x1="23476" y1="35053" x2="39170" y2="42640"/>
                        <a14:foregroundMark x1="12192" y1="52656" x2="12711" y2="48407"/>
                        <a14:foregroundMark x1="11284" y1="55083" x2="13230" y2="45220"/>
                        <a14:foregroundMark x1="11933" y1="46737" x2="15305" y2="38088"/>
                        <a14:foregroundMark x1="14527" y1="29742" x2="17639" y2="31259"/>
                        <a14:foregroundMark x1="15435" y1="29590" x2="17121" y2="32322"/>
                        <a14:foregroundMark x1="12451" y1="44310" x2="14656" y2="38088"/>
                        <a14:foregroundMark x1="12711" y1="41730" x2="16342" y2="32170"/>
                        <a14:backgroundMark x1="10376" y1="22914" x2="4280" y2="22914"/>
                        <a14:backgroundMark x1="8690" y1="21851" x2="2464" y2="21396"/>
                        <a14:backgroundMark x1="13100" y1="22307" x2="2335" y2="24431"/>
                        <a14:backgroundMark x1="2335" y1="24431" x2="3502" y2="25341"/>
                        <a14:backgroundMark x1="69001" y1="93323" x2="69780" y2="88771"/>
                        <a14:backgroundMark x1="69520" y1="88771" x2="68872" y2="89530"/>
                        <a14:backgroundMark x1="66407" y1="91351" x2="69909" y2="88467"/>
                        <a14:backgroundMark x1="64332" y1="92261" x2="67185" y2="89833"/>
                        <a14:backgroundMark x1="65370" y1="91351" x2="66407" y2="90744"/>
                        <a14:backgroundMark x1="64981" y1="90744" x2="66278" y2="90137"/>
                        <a14:backgroundMark x1="64851" y1="92109" x2="66407" y2="90288"/>
                        <a14:backgroundMark x1="64981" y1="91351" x2="65888" y2="89681"/>
                      </a14:backgroundRemoval>
                    </a14:imgEffect>
                  </a14:imgLayer>
                </a14:imgProps>
              </a:ext>
            </a:extLst>
          </a:blip>
          <a:srcRect t="8659" b="3544"/>
          <a:stretch/>
        </p:blipFill>
        <p:spPr>
          <a:xfrm>
            <a:off x="2418463" y="1505351"/>
            <a:ext cx="4812119" cy="3611138"/>
          </a:xfrm>
          <a:prstGeom prst="rect">
            <a:avLst/>
          </a:prstGeom>
        </p:spPr>
      </p:pic>
      <p:sp>
        <p:nvSpPr>
          <p:cNvPr id="9" name="文字方塊 8">
            <a:extLst>
              <a:ext uri="{FF2B5EF4-FFF2-40B4-BE49-F238E27FC236}">
                <a16:creationId xmlns:a16="http://schemas.microsoft.com/office/drawing/2014/main" id="{A307F466-3304-2E31-EB91-88E0961F4B0D}"/>
              </a:ext>
            </a:extLst>
          </p:cNvPr>
          <p:cNvSpPr txBox="1"/>
          <p:nvPr/>
        </p:nvSpPr>
        <p:spPr>
          <a:xfrm>
            <a:off x="391801" y="1051176"/>
            <a:ext cx="5250155" cy="338554"/>
          </a:xfrm>
          <a:prstGeom prst="rect">
            <a:avLst/>
          </a:prstGeom>
          <a:noFill/>
        </p:spPr>
        <p:txBody>
          <a:bodyPr wrap="none" rtlCol="0">
            <a:spAutoFit/>
          </a:bodyPr>
          <a:lstStyle/>
          <a:p>
            <a:r>
              <a:rPr lang="en-US" altLang="zh-TW" sz="1600" dirty="0">
                <a:solidFill>
                  <a:schemeClr val="accent3"/>
                </a:solidFill>
                <a:latin typeface="Raleway"/>
                <a:ea typeface="Fira Code"/>
                <a:sym typeface="Fira Code"/>
              </a:rPr>
              <a:t>Proportion of Zero and Non-Zero Sales Combinations</a:t>
            </a:r>
          </a:p>
        </p:txBody>
      </p:sp>
      <p:sp>
        <p:nvSpPr>
          <p:cNvPr id="5" name="文字方塊 4">
            <a:extLst>
              <a:ext uri="{FF2B5EF4-FFF2-40B4-BE49-F238E27FC236}">
                <a16:creationId xmlns:a16="http://schemas.microsoft.com/office/drawing/2014/main" id="{2B7D832E-C466-B042-C378-0AB9068ECDF3}"/>
              </a:ext>
            </a:extLst>
          </p:cNvPr>
          <p:cNvSpPr txBox="1"/>
          <p:nvPr/>
        </p:nvSpPr>
        <p:spPr>
          <a:xfrm>
            <a:off x="1913418" y="1871617"/>
            <a:ext cx="1168910" cy="338554"/>
          </a:xfrm>
          <a:prstGeom prst="rect">
            <a:avLst/>
          </a:prstGeom>
          <a:noFill/>
        </p:spPr>
        <p:txBody>
          <a:bodyPr wrap="none" rtlCol="0">
            <a:spAutoFit/>
          </a:bodyPr>
          <a:lstStyle/>
          <a:p>
            <a:r>
              <a:rPr lang="en-US" altLang="zh-TW" sz="1600" dirty="0">
                <a:solidFill>
                  <a:schemeClr val="accent3"/>
                </a:solidFill>
                <a:latin typeface="Raleway"/>
                <a:ea typeface="Fira Code"/>
              </a:rPr>
              <a:t>Zero sales</a:t>
            </a:r>
            <a:endParaRPr lang="zh-TW" altLang="en-US" sz="1600" dirty="0">
              <a:solidFill>
                <a:schemeClr val="accent3"/>
              </a:solidFill>
              <a:latin typeface="Raleway"/>
            </a:endParaRPr>
          </a:p>
        </p:txBody>
      </p:sp>
      <p:sp>
        <p:nvSpPr>
          <p:cNvPr id="6" name="文字方塊 5">
            <a:extLst>
              <a:ext uri="{FF2B5EF4-FFF2-40B4-BE49-F238E27FC236}">
                <a16:creationId xmlns:a16="http://schemas.microsoft.com/office/drawing/2014/main" id="{8104CB84-E6F3-6DC8-EF2B-760574953756}"/>
              </a:ext>
            </a:extLst>
          </p:cNvPr>
          <p:cNvSpPr txBox="1"/>
          <p:nvPr/>
        </p:nvSpPr>
        <p:spPr>
          <a:xfrm>
            <a:off x="6566717" y="3930908"/>
            <a:ext cx="1656223" cy="338554"/>
          </a:xfrm>
          <a:prstGeom prst="rect">
            <a:avLst/>
          </a:prstGeom>
          <a:noFill/>
        </p:spPr>
        <p:txBody>
          <a:bodyPr wrap="none" rtlCol="0">
            <a:spAutoFit/>
          </a:bodyPr>
          <a:lstStyle/>
          <a:p>
            <a:r>
              <a:rPr lang="en-US" altLang="zh-TW" sz="1600" dirty="0">
                <a:solidFill>
                  <a:schemeClr val="accent3"/>
                </a:solidFill>
                <a:latin typeface="Raleway"/>
                <a:ea typeface="Fira Code"/>
              </a:rPr>
              <a:t>Non-Zero sales</a:t>
            </a:r>
            <a:endParaRPr lang="zh-TW" altLang="en-US" sz="1600" dirty="0">
              <a:solidFill>
                <a:schemeClr val="accent3"/>
              </a:solidFill>
              <a:latin typeface="Raleway"/>
            </a:endParaRPr>
          </a:p>
        </p:txBody>
      </p:sp>
    </p:spTree>
    <p:extLst>
      <p:ext uri="{BB962C8B-B14F-4D97-AF65-F5344CB8AC3E}">
        <p14:creationId xmlns:p14="http://schemas.microsoft.com/office/powerpoint/2010/main" val="2593171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15" name="矩形 14">
            <a:extLst>
              <a:ext uri="{FF2B5EF4-FFF2-40B4-BE49-F238E27FC236}">
                <a16:creationId xmlns:a16="http://schemas.microsoft.com/office/drawing/2014/main" id="{FC079746-CF6A-F980-792F-72CE4DAA2745}"/>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Google Shape;570;p32">
            <a:extLst>
              <a:ext uri="{FF2B5EF4-FFF2-40B4-BE49-F238E27FC236}">
                <a16:creationId xmlns:a16="http://schemas.microsoft.com/office/drawing/2014/main" id="{A803540A-BB67-96CD-1BCA-FE60DD12E41C}"/>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2"/>
              </a:buClr>
              <a:buSzPts val="1400"/>
            </a:pPr>
            <a:r>
              <a:rPr lang="en-GB" sz="1600">
                <a:solidFill>
                  <a:schemeClr val="accent3"/>
                </a:solidFill>
                <a:latin typeface="Fira Code"/>
                <a:ea typeface="Fira Code"/>
                <a:cs typeface="Fira Code"/>
                <a:sym typeface="Fira Code"/>
              </a:rPr>
              <a:t>EDA</a:t>
            </a:r>
          </a:p>
        </p:txBody>
      </p:sp>
      <p:sp>
        <p:nvSpPr>
          <p:cNvPr id="12" name="Google Shape;629;p33">
            <a:extLst>
              <a:ext uri="{FF2B5EF4-FFF2-40B4-BE49-F238E27FC236}">
                <a16:creationId xmlns:a16="http://schemas.microsoft.com/office/drawing/2014/main" id="{80137BC9-7025-45D2-607C-42C7625CD3D3}"/>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Workflow</a:t>
            </a:r>
          </a:p>
        </p:txBody>
      </p:sp>
      <p:sp>
        <p:nvSpPr>
          <p:cNvPr id="2" name="文字方塊 1">
            <a:extLst>
              <a:ext uri="{FF2B5EF4-FFF2-40B4-BE49-F238E27FC236}">
                <a16:creationId xmlns:a16="http://schemas.microsoft.com/office/drawing/2014/main" id="{7408BB69-501C-0597-237B-742707357ECD}"/>
              </a:ext>
            </a:extLst>
          </p:cNvPr>
          <p:cNvSpPr txBox="1"/>
          <p:nvPr/>
        </p:nvSpPr>
        <p:spPr>
          <a:xfrm>
            <a:off x="8760562" y="4851110"/>
            <a:ext cx="383438"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10</a:t>
            </a:r>
            <a:endParaRPr lang="zh-TW" altLang="en-US" sz="1300">
              <a:solidFill>
                <a:schemeClr val="accent3"/>
              </a:solidFill>
              <a:latin typeface="Fira Code"/>
              <a:cs typeface="Fira Code"/>
              <a:sym typeface="Fira Code"/>
            </a:endParaRPr>
          </a:p>
        </p:txBody>
      </p:sp>
      <p:pic>
        <p:nvPicPr>
          <p:cNvPr id="4" name="圖片 3" descr="一張含有 文字, 螢幕擷取畫面, 圖表, 字型 的圖片&#10;&#10;自動產生的描述">
            <a:extLst>
              <a:ext uri="{FF2B5EF4-FFF2-40B4-BE49-F238E27FC236}">
                <a16:creationId xmlns:a16="http://schemas.microsoft.com/office/drawing/2014/main" id="{F0372939-4BB4-3A9F-AA9D-37E8C4947526}"/>
              </a:ext>
            </a:extLst>
          </p:cNvPr>
          <p:cNvPicPr>
            <a:picLocks noChangeAspect="1"/>
          </p:cNvPicPr>
          <p:nvPr/>
        </p:nvPicPr>
        <p:blipFill>
          <a:blip r:embed="rId3"/>
          <a:stretch>
            <a:fillRect/>
          </a:stretch>
        </p:blipFill>
        <p:spPr>
          <a:xfrm>
            <a:off x="-11950" y="0"/>
            <a:ext cx="9155950" cy="5143500"/>
          </a:xfrm>
          <a:prstGeom prst="rect">
            <a:avLst/>
          </a:prstGeom>
        </p:spPr>
      </p:pic>
    </p:spTree>
    <p:extLst>
      <p:ext uri="{BB962C8B-B14F-4D97-AF65-F5344CB8AC3E}">
        <p14:creationId xmlns:p14="http://schemas.microsoft.com/office/powerpoint/2010/main" val="1268675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15" name="矩形 14">
            <a:extLst>
              <a:ext uri="{FF2B5EF4-FFF2-40B4-BE49-F238E27FC236}">
                <a16:creationId xmlns:a16="http://schemas.microsoft.com/office/drawing/2014/main" id="{FC079746-CF6A-F980-792F-72CE4DAA2745}"/>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3D87BE8E-684C-E938-B4BF-B111C95D1D93}"/>
              </a:ext>
            </a:extLst>
          </p:cNvPr>
          <p:cNvSpPr txBox="1"/>
          <p:nvPr/>
        </p:nvSpPr>
        <p:spPr>
          <a:xfrm>
            <a:off x="8760562" y="4851110"/>
            <a:ext cx="383438"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11</a:t>
            </a:r>
            <a:endParaRPr lang="zh-TW" altLang="en-US" sz="1300">
              <a:solidFill>
                <a:schemeClr val="accent3"/>
              </a:solidFill>
              <a:latin typeface="Fira Code"/>
              <a:cs typeface="Fira Code"/>
              <a:sym typeface="Fira Code"/>
            </a:endParaRPr>
          </a:p>
        </p:txBody>
      </p:sp>
      <p:pic>
        <p:nvPicPr>
          <p:cNvPr id="5" name="圖片 4" descr="一張含有 文字, 螢幕擷取畫面, 圖表, 陳列 的圖片&#10;&#10;自動產生的描述">
            <a:extLst>
              <a:ext uri="{FF2B5EF4-FFF2-40B4-BE49-F238E27FC236}">
                <a16:creationId xmlns:a16="http://schemas.microsoft.com/office/drawing/2014/main" id="{70E4365D-2C98-573B-F7C4-365426935137}"/>
              </a:ext>
            </a:extLst>
          </p:cNvPr>
          <p:cNvPicPr>
            <a:picLocks noChangeAspect="1"/>
          </p:cNvPicPr>
          <p:nvPr/>
        </p:nvPicPr>
        <p:blipFill rotWithShape="1">
          <a:blip r:embed="rId3"/>
          <a:srcRect l="268"/>
          <a:stretch/>
        </p:blipFill>
        <p:spPr>
          <a:xfrm>
            <a:off x="0" y="0"/>
            <a:ext cx="9119506" cy="5143500"/>
          </a:xfrm>
          <a:prstGeom prst="rect">
            <a:avLst/>
          </a:prstGeom>
        </p:spPr>
      </p:pic>
    </p:spTree>
    <p:extLst>
      <p:ext uri="{BB962C8B-B14F-4D97-AF65-F5344CB8AC3E}">
        <p14:creationId xmlns:p14="http://schemas.microsoft.com/office/powerpoint/2010/main" val="4143832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9" name="Google Shape;629;p33">
            <a:extLst>
              <a:ext uri="{FF2B5EF4-FFF2-40B4-BE49-F238E27FC236}">
                <a16:creationId xmlns:a16="http://schemas.microsoft.com/office/drawing/2014/main" id="{6F22F5BA-636C-99ED-12AA-003CEEF1B61F}"/>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139700" indent="0" algn="ctr">
              <a:buClr>
                <a:schemeClr val="accent3"/>
              </a:buClr>
              <a:buSzPts val="1400"/>
              <a:buNone/>
            </a:pPr>
            <a:r>
              <a:rPr lang="en-US" altLang="zh-TW" sz="1600">
                <a:solidFill>
                  <a:schemeClr val="accent3"/>
                </a:solidFill>
                <a:latin typeface="Fira Code"/>
                <a:ea typeface="Fira Code"/>
                <a:cs typeface="Fira Code"/>
                <a:sym typeface="Fira Code"/>
              </a:rPr>
              <a:t>Feature Engineering</a:t>
            </a:r>
            <a:endParaRPr lang="en-GB" altLang="zh-TW" sz="1600">
              <a:solidFill>
                <a:schemeClr val="accent3"/>
              </a:solidFill>
              <a:latin typeface="Fira Code"/>
              <a:ea typeface="Fira Code"/>
              <a:cs typeface="Fira Code"/>
              <a:sym typeface="Fira Code"/>
            </a:endParaRPr>
          </a:p>
        </p:txBody>
      </p:sp>
      <p:sp>
        <p:nvSpPr>
          <p:cNvPr id="2" name="Google Shape;629;p33">
            <a:extLst>
              <a:ext uri="{FF2B5EF4-FFF2-40B4-BE49-F238E27FC236}">
                <a16:creationId xmlns:a16="http://schemas.microsoft.com/office/drawing/2014/main" id="{C6731106-3085-C448-1CAD-4D2EAC0A9D8D}"/>
              </a:ext>
            </a:extLst>
          </p:cNvPr>
          <p:cNvSpPr txBox="1">
            <a:spLocks/>
          </p:cNvSpPr>
          <p:nvPr/>
        </p:nvSpPr>
        <p:spPr>
          <a:xfrm>
            <a:off x="-59872"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Segmentation</a:t>
            </a:r>
          </a:p>
        </p:txBody>
      </p:sp>
      <p:sp>
        <p:nvSpPr>
          <p:cNvPr id="3" name="Google Shape;803;p38">
            <a:extLst>
              <a:ext uri="{FF2B5EF4-FFF2-40B4-BE49-F238E27FC236}">
                <a16:creationId xmlns:a16="http://schemas.microsoft.com/office/drawing/2014/main" id="{07C4E332-E9C6-55F5-858E-722D6F043BFF}"/>
              </a:ext>
            </a:extLst>
          </p:cNvPr>
          <p:cNvSpPr txBox="1">
            <a:spLocks/>
          </p:cNvSpPr>
          <p:nvPr/>
        </p:nvSpPr>
        <p:spPr>
          <a:xfrm>
            <a:off x="1122975" y="663800"/>
            <a:ext cx="5106000"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 sz="2400">
                <a:solidFill>
                  <a:schemeClr val="accent2"/>
                </a:solidFill>
              </a:rPr>
              <a:t>Segmentation</a:t>
            </a:r>
            <a:endParaRPr lang="en" sz="2000">
              <a:solidFill>
                <a:schemeClr val="accent2"/>
              </a:solidFill>
            </a:endParaRPr>
          </a:p>
        </p:txBody>
      </p:sp>
      <p:sp>
        <p:nvSpPr>
          <p:cNvPr id="4" name="Google Shape;803;p38">
            <a:extLst>
              <a:ext uri="{FF2B5EF4-FFF2-40B4-BE49-F238E27FC236}">
                <a16:creationId xmlns:a16="http://schemas.microsoft.com/office/drawing/2014/main" id="{1F39C061-03F7-CF0A-D6FE-08BF67E31AB6}"/>
              </a:ext>
            </a:extLst>
          </p:cNvPr>
          <p:cNvSpPr txBox="1">
            <a:spLocks/>
          </p:cNvSpPr>
          <p:nvPr/>
        </p:nvSpPr>
        <p:spPr>
          <a:xfrm>
            <a:off x="1243301" y="2887320"/>
            <a:ext cx="7915390" cy="17333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US" altLang="zh-TW" sz="1800" dirty="0">
                <a:solidFill>
                  <a:schemeClr val="tx2"/>
                </a:solidFill>
                <a:latin typeface="Fira Code"/>
                <a:ea typeface="Fira Code"/>
                <a:cs typeface="Fira Code"/>
                <a:sym typeface="Fira Code"/>
              </a:rPr>
              <a:t># </a:t>
            </a:r>
            <a:r>
              <a:rPr lang="en" sz="1800" dirty="0">
                <a:solidFill>
                  <a:schemeClr val="tx2"/>
                </a:solidFill>
              </a:rPr>
              <a:t>Zero and Non-Zero</a:t>
            </a:r>
          </a:p>
          <a:p>
            <a:pPr marL="0" indent="0">
              <a:lnSpc>
                <a:spcPct val="150000"/>
              </a:lnSpc>
            </a:pPr>
            <a:r>
              <a:rPr lang="en" sz="1600" dirty="0">
                <a:latin typeface="Raleway"/>
                <a:cs typeface="Arial"/>
              </a:rPr>
              <a:t>     Zero – Predicted using simple Num</a:t>
            </a:r>
            <a:r>
              <a:rPr lang="en-US" altLang="zh-TW" sz="1600" dirty="0" err="1">
                <a:latin typeface="Raleway"/>
                <a:cs typeface="Arial"/>
              </a:rPr>
              <a:t>Py</a:t>
            </a:r>
            <a:r>
              <a:rPr lang="en-US" altLang="zh-TW" sz="1600" dirty="0">
                <a:latin typeface="Raleway"/>
                <a:cs typeface="Arial"/>
              </a:rPr>
              <a:t> methods</a:t>
            </a:r>
          </a:p>
          <a:p>
            <a:pPr marL="0" indent="0">
              <a:lnSpc>
                <a:spcPct val="150000"/>
              </a:lnSpc>
            </a:pPr>
            <a:r>
              <a:rPr lang="en-GB" sz="1600" dirty="0">
                <a:latin typeface="Raleway"/>
                <a:cs typeface="Arial"/>
              </a:rPr>
              <a:t>     Non-Zero - </a:t>
            </a:r>
            <a:r>
              <a:rPr lang="en-US" sz="1600" dirty="0">
                <a:latin typeface="Raleway"/>
                <a:cs typeface="Arial"/>
              </a:rPr>
              <a:t>Distinct regression and machine learning models</a:t>
            </a:r>
          </a:p>
          <a:p>
            <a:pPr marL="0" indent="0">
              <a:lnSpc>
                <a:spcPct val="150000"/>
              </a:lnSpc>
            </a:pPr>
            <a:r>
              <a:rPr lang="en" sz="1600" dirty="0">
                <a:latin typeface="Raleway"/>
                <a:cs typeface="Arial"/>
              </a:rPr>
              <a:t>                   </a:t>
            </a:r>
          </a:p>
        </p:txBody>
      </p:sp>
      <p:sp>
        <p:nvSpPr>
          <p:cNvPr id="6" name="Google Shape;803;p38">
            <a:extLst>
              <a:ext uri="{FF2B5EF4-FFF2-40B4-BE49-F238E27FC236}">
                <a16:creationId xmlns:a16="http://schemas.microsoft.com/office/drawing/2014/main" id="{2885BD59-2033-2C83-7713-15FF7FC43253}"/>
              </a:ext>
            </a:extLst>
          </p:cNvPr>
          <p:cNvSpPr txBox="1">
            <a:spLocks/>
          </p:cNvSpPr>
          <p:nvPr/>
        </p:nvSpPr>
        <p:spPr>
          <a:xfrm>
            <a:off x="1243301" y="1154000"/>
            <a:ext cx="7517261" cy="173332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lnSpc>
                <a:spcPct val="150000"/>
              </a:lnSpc>
            </a:pPr>
            <a:r>
              <a:rPr lang="en-US" altLang="zh-TW" sz="1800" dirty="0">
                <a:solidFill>
                  <a:schemeClr val="tx2"/>
                </a:solidFill>
                <a:latin typeface="Fira Code"/>
                <a:ea typeface="Fira Code"/>
                <a:cs typeface="Fira Code"/>
                <a:sym typeface="Fira Code"/>
              </a:rPr>
              <a:t># </a:t>
            </a:r>
            <a:r>
              <a:rPr lang="en" sz="1800" dirty="0">
                <a:solidFill>
                  <a:schemeClr val="tx2"/>
                </a:solidFill>
              </a:rPr>
              <a:t>Groupby both Store and Product</a:t>
            </a:r>
          </a:p>
          <a:p>
            <a:pPr marL="0" indent="0">
              <a:lnSpc>
                <a:spcPct val="150000"/>
              </a:lnSpc>
            </a:pPr>
            <a:r>
              <a:rPr lang="en-US" altLang="zh-TW" sz="1600" dirty="0">
                <a:latin typeface="Raleway"/>
                <a:cs typeface="Arial"/>
                <a:sym typeface="Arial"/>
              </a:rPr>
              <a:t>     Provides explicit insights into sales patterns</a:t>
            </a:r>
          </a:p>
          <a:p>
            <a:pPr marL="0" indent="0">
              <a:lnSpc>
                <a:spcPct val="150000"/>
              </a:lnSpc>
            </a:pPr>
            <a:r>
              <a:rPr lang="en-US" altLang="zh-TW" sz="1600" dirty="0">
                <a:latin typeface="Raleway"/>
                <a:cs typeface="Arial"/>
                <a:sym typeface="Arial"/>
              </a:rPr>
              <a:t>     Businesses can develop </a:t>
            </a:r>
            <a:r>
              <a:rPr lang="en-US" altLang="zh-TW" sz="1600" dirty="0" err="1">
                <a:latin typeface="Raleway"/>
                <a:cs typeface="Arial"/>
                <a:sym typeface="Arial"/>
              </a:rPr>
              <a:t>localised</a:t>
            </a:r>
            <a:r>
              <a:rPr lang="en-US" altLang="zh-TW" sz="1600" dirty="0">
                <a:latin typeface="Raleway"/>
                <a:cs typeface="Arial"/>
                <a:sym typeface="Arial"/>
              </a:rPr>
              <a:t> marketing and inventory strategies, </a:t>
            </a:r>
          </a:p>
          <a:p>
            <a:pPr marL="0" indent="0">
              <a:lnSpc>
                <a:spcPct val="150000"/>
              </a:lnSpc>
            </a:pPr>
            <a:r>
              <a:rPr lang="en-US" altLang="zh-TW" sz="1600" dirty="0">
                <a:latin typeface="Raleway"/>
                <a:cs typeface="Arial"/>
                <a:sym typeface="Arial"/>
              </a:rPr>
              <a:t>     catering to customers' unique demands </a:t>
            </a:r>
          </a:p>
        </p:txBody>
      </p:sp>
      <p:sp>
        <p:nvSpPr>
          <p:cNvPr id="5" name="文字方塊 4">
            <a:extLst>
              <a:ext uri="{FF2B5EF4-FFF2-40B4-BE49-F238E27FC236}">
                <a16:creationId xmlns:a16="http://schemas.microsoft.com/office/drawing/2014/main" id="{A22D848C-5044-FE60-0B08-B9BB56A178B9}"/>
              </a:ext>
            </a:extLst>
          </p:cNvPr>
          <p:cNvSpPr txBox="1"/>
          <p:nvPr/>
        </p:nvSpPr>
        <p:spPr>
          <a:xfrm>
            <a:off x="8760562" y="4851110"/>
            <a:ext cx="383438"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12</a:t>
            </a:r>
            <a:endParaRPr lang="zh-TW" altLang="en-US" sz="1300">
              <a:solidFill>
                <a:schemeClr val="accent3"/>
              </a:solidFill>
              <a:latin typeface="Fira Code"/>
              <a:cs typeface="Fira Code"/>
              <a:sym typeface="Fira Code"/>
            </a:endParaRPr>
          </a:p>
        </p:txBody>
      </p:sp>
    </p:spTree>
    <p:extLst>
      <p:ext uri="{BB962C8B-B14F-4D97-AF65-F5344CB8AC3E}">
        <p14:creationId xmlns:p14="http://schemas.microsoft.com/office/powerpoint/2010/main" val="2882600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2" name="Google Shape;629;p33">
            <a:extLst>
              <a:ext uri="{FF2B5EF4-FFF2-40B4-BE49-F238E27FC236}">
                <a16:creationId xmlns:a16="http://schemas.microsoft.com/office/drawing/2014/main" id="{C85B2F64-4F7C-3D7D-D8BA-30429AAF47CF}"/>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139700" indent="0" algn="ctr">
              <a:buClr>
                <a:schemeClr val="accent3"/>
              </a:buClr>
              <a:buSzPts val="1400"/>
              <a:buNone/>
            </a:pPr>
            <a:r>
              <a:rPr lang="en-US" altLang="zh-TW" sz="1600">
                <a:solidFill>
                  <a:schemeClr val="accent3"/>
                </a:solidFill>
                <a:latin typeface="Fira Code"/>
                <a:ea typeface="Fira Code"/>
                <a:cs typeface="Fira Code"/>
                <a:sym typeface="Fira Code"/>
              </a:rPr>
              <a:t>Feature Engineering</a:t>
            </a:r>
            <a:endParaRPr lang="en-GB" altLang="zh-TW" sz="1600">
              <a:solidFill>
                <a:schemeClr val="accent3"/>
              </a:solidFill>
              <a:latin typeface="Fira Code"/>
              <a:ea typeface="Fira Code"/>
              <a:cs typeface="Fira Code"/>
              <a:sym typeface="Fira Code"/>
            </a:endParaRPr>
          </a:p>
        </p:txBody>
      </p:sp>
      <p:sp>
        <p:nvSpPr>
          <p:cNvPr id="3" name="Google Shape;629;p33">
            <a:extLst>
              <a:ext uri="{FF2B5EF4-FFF2-40B4-BE49-F238E27FC236}">
                <a16:creationId xmlns:a16="http://schemas.microsoft.com/office/drawing/2014/main" id="{20F6344A-FA90-39DE-DA83-9D78F084A8CC}"/>
              </a:ext>
            </a:extLst>
          </p:cNvPr>
          <p:cNvSpPr txBox="1">
            <a:spLocks/>
          </p:cNvSpPr>
          <p:nvPr/>
        </p:nvSpPr>
        <p:spPr>
          <a:xfrm>
            <a:off x="-59872"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Segmentation</a:t>
            </a:r>
          </a:p>
        </p:txBody>
      </p:sp>
      <p:sp>
        <p:nvSpPr>
          <p:cNvPr id="4" name="文字方塊 3">
            <a:extLst>
              <a:ext uri="{FF2B5EF4-FFF2-40B4-BE49-F238E27FC236}">
                <a16:creationId xmlns:a16="http://schemas.microsoft.com/office/drawing/2014/main" id="{08822815-EBE3-4643-57D0-B1D6E4BFF43F}"/>
              </a:ext>
            </a:extLst>
          </p:cNvPr>
          <p:cNvSpPr txBox="1"/>
          <p:nvPr/>
        </p:nvSpPr>
        <p:spPr>
          <a:xfrm>
            <a:off x="1122975" y="1278597"/>
            <a:ext cx="8021025" cy="3000821"/>
          </a:xfrm>
          <a:prstGeom prst="rect">
            <a:avLst/>
          </a:prstGeom>
          <a:noFill/>
        </p:spPr>
        <p:txBody>
          <a:bodyPr wrap="square">
            <a:spAutoFit/>
          </a:bodyPr>
          <a:lstStyle/>
          <a:p>
            <a:pPr algn="l" rtl="0" fontAlgn="base">
              <a:lnSpc>
                <a:spcPct val="150000"/>
              </a:lnSpc>
            </a:pPr>
            <a:r>
              <a:rPr lang="en-US" altLang="zh-TW" sz="1800">
                <a:solidFill>
                  <a:schemeClr val="tx2"/>
                </a:solidFill>
                <a:latin typeface="Fira Code"/>
                <a:ea typeface="Fira Code"/>
                <a:cs typeface="Fira Code"/>
                <a:sym typeface="Fira Code"/>
              </a:rPr>
              <a:t># External features</a:t>
            </a:r>
          </a:p>
          <a:p>
            <a:pPr algn="l" rtl="0" fontAlgn="base"/>
            <a:r>
              <a:rPr lang="en-US" altLang="zh-TW" sz="1800">
                <a:solidFill>
                  <a:schemeClr val="accent3"/>
                </a:solidFill>
                <a:latin typeface="Raleway"/>
                <a:ea typeface="Fira Code"/>
                <a:sym typeface="Fira Code"/>
              </a:rPr>
              <a:t>     </a:t>
            </a:r>
            <a:r>
              <a:rPr lang="en-US" altLang="zh-TW" sz="1600">
                <a:solidFill>
                  <a:schemeClr val="accent3"/>
                </a:solidFill>
                <a:latin typeface="Raleway"/>
                <a:ea typeface="Fira Code"/>
                <a:sym typeface="Fira Code"/>
              </a:rPr>
              <a:t>'Id' and '</a:t>
            </a:r>
            <a:r>
              <a:rPr lang="en-US" altLang="zh-TW" sz="1600" err="1">
                <a:solidFill>
                  <a:schemeClr val="accent3"/>
                </a:solidFill>
                <a:latin typeface="Raleway"/>
                <a:ea typeface="Fira Code"/>
                <a:sym typeface="Fira Code"/>
              </a:rPr>
              <a:t>Store_nbr</a:t>
            </a:r>
            <a:r>
              <a:rPr lang="en-US" altLang="zh-TW" sz="1600">
                <a:solidFill>
                  <a:schemeClr val="accent3"/>
                </a:solidFill>
                <a:latin typeface="Raleway"/>
                <a:ea typeface="Fira Code"/>
                <a:sym typeface="Fira Code"/>
              </a:rPr>
              <a:t>’ - impractical for inclusion due to limited impact on sales</a:t>
            </a:r>
          </a:p>
          <a:p>
            <a:pPr algn="l" rtl="0" fontAlgn="base"/>
            <a:endParaRPr lang="en-US" altLang="zh-TW" sz="1800">
              <a:solidFill>
                <a:schemeClr val="accent3"/>
              </a:solidFill>
              <a:latin typeface="Raleway"/>
              <a:ea typeface="Fira Code"/>
              <a:sym typeface="Fira Code"/>
            </a:endParaRPr>
          </a:p>
          <a:p>
            <a:pPr fontAlgn="base">
              <a:lnSpc>
                <a:spcPct val="150000"/>
              </a:lnSpc>
            </a:pPr>
            <a:r>
              <a:rPr lang="en-US" altLang="zh-TW" sz="1800">
                <a:solidFill>
                  <a:schemeClr val="tx2"/>
                </a:solidFill>
                <a:latin typeface="Fira Code"/>
                <a:ea typeface="Fira Code"/>
                <a:cs typeface="Fira Code"/>
                <a:sym typeface="Fira Code"/>
              </a:rPr>
              <a:t># Historic sales data</a:t>
            </a:r>
          </a:p>
          <a:p>
            <a:pPr algn="l" rtl="0" fontAlgn="base"/>
            <a:r>
              <a:rPr lang="en-US" altLang="zh-TW" sz="1600">
                <a:solidFill>
                  <a:schemeClr val="accent3"/>
                </a:solidFill>
                <a:latin typeface="Raleway"/>
                <a:ea typeface="Fira Code"/>
                <a:sym typeface="Fira Code"/>
              </a:rPr>
              <a:t>     Solely relying on previous sales data yielded suboptimal performance </a:t>
            </a:r>
          </a:p>
          <a:p>
            <a:pPr algn="l" rtl="0" fontAlgn="base"/>
            <a:r>
              <a:rPr lang="en-US" altLang="zh-TW" sz="1600">
                <a:solidFill>
                  <a:schemeClr val="accent3"/>
                </a:solidFill>
                <a:latin typeface="Raleway"/>
                <a:ea typeface="Fira Code"/>
                <a:sym typeface="Fira Code"/>
              </a:rPr>
              <a:t>     for prediction</a:t>
            </a:r>
          </a:p>
          <a:p>
            <a:pPr algn="l" rtl="0" fontAlgn="base"/>
            <a:endParaRPr lang="en-US" altLang="zh-TW" sz="1800">
              <a:solidFill>
                <a:schemeClr val="accent3"/>
              </a:solidFill>
              <a:latin typeface="Raleway"/>
              <a:ea typeface="Fira Code"/>
              <a:sym typeface="Fira Code"/>
            </a:endParaRPr>
          </a:p>
          <a:p>
            <a:pPr fontAlgn="base">
              <a:lnSpc>
                <a:spcPct val="150000"/>
              </a:lnSpc>
            </a:pPr>
            <a:r>
              <a:rPr lang="en-US" altLang="zh-TW" sz="1800">
                <a:solidFill>
                  <a:schemeClr val="tx2"/>
                </a:solidFill>
                <a:latin typeface="Fira Code"/>
                <a:ea typeface="Fira Code"/>
                <a:cs typeface="Fira Code"/>
                <a:sym typeface="Fira Code"/>
              </a:rPr>
              <a:t># Historic sales data &amp; Special offers</a:t>
            </a:r>
          </a:p>
          <a:p>
            <a:pPr algn="l" rtl="0" fontAlgn="base"/>
            <a:r>
              <a:rPr lang="en-US" altLang="zh-TW" sz="1600">
                <a:solidFill>
                  <a:schemeClr val="accent3"/>
                </a:solidFill>
                <a:latin typeface="Raleway"/>
                <a:ea typeface="Fira Code"/>
                <a:sym typeface="Fira Code"/>
              </a:rPr>
              <a:t>     Promising outcome observed</a:t>
            </a:r>
          </a:p>
        </p:txBody>
      </p:sp>
      <p:sp>
        <p:nvSpPr>
          <p:cNvPr id="5" name="Google Shape;803;p38">
            <a:extLst>
              <a:ext uri="{FF2B5EF4-FFF2-40B4-BE49-F238E27FC236}">
                <a16:creationId xmlns:a16="http://schemas.microsoft.com/office/drawing/2014/main" id="{22F4BDF7-320D-E924-E6F3-1E2474F2DCF1}"/>
              </a:ext>
            </a:extLst>
          </p:cNvPr>
          <p:cNvSpPr txBox="1">
            <a:spLocks/>
          </p:cNvSpPr>
          <p:nvPr/>
        </p:nvSpPr>
        <p:spPr>
          <a:xfrm>
            <a:off x="1122975" y="649462"/>
            <a:ext cx="5106000"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GB" sz="2400" dirty="0">
                <a:solidFill>
                  <a:schemeClr val="accent2"/>
                </a:solidFill>
              </a:rPr>
              <a:t>Feature Engineering</a:t>
            </a:r>
          </a:p>
        </p:txBody>
      </p:sp>
      <p:sp>
        <p:nvSpPr>
          <p:cNvPr id="6" name="文字方塊 5">
            <a:extLst>
              <a:ext uri="{FF2B5EF4-FFF2-40B4-BE49-F238E27FC236}">
                <a16:creationId xmlns:a16="http://schemas.microsoft.com/office/drawing/2014/main" id="{0EEE8BE8-5B7C-4347-3F52-F1E01017B9FC}"/>
              </a:ext>
            </a:extLst>
          </p:cNvPr>
          <p:cNvSpPr txBox="1"/>
          <p:nvPr/>
        </p:nvSpPr>
        <p:spPr>
          <a:xfrm>
            <a:off x="8760562" y="4851110"/>
            <a:ext cx="383438"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13</a:t>
            </a:r>
            <a:endParaRPr lang="zh-TW" altLang="en-US" sz="1300">
              <a:solidFill>
                <a:schemeClr val="accent3"/>
              </a:solidFill>
              <a:latin typeface="Fira Code"/>
              <a:cs typeface="Fira Code"/>
              <a:sym typeface="Fira Cod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629;p33">
            <a:extLst>
              <a:ext uri="{FF2B5EF4-FFF2-40B4-BE49-F238E27FC236}">
                <a16:creationId xmlns:a16="http://schemas.microsoft.com/office/drawing/2014/main" id="{ADF86B66-BA30-1D7F-6823-01ACB5091D37}"/>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Model Selection</a:t>
            </a:r>
          </a:p>
        </p:txBody>
      </p:sp>
      <p:sp>
        <p:nvSpPr>
          <p:cNvPr id="10" name="Google Shape;776;p36">
            <a:extLst>
              <a:ext uri="{FF2B5EF4-FFF2-40B4-BE49-F238E27FC236}">
                <a16:creationId xmlns:a16="http://schemas.microsoft.com/office/drawing/2014/main" id="{C47C756C-01FF-9101-BBCD-BCEDF7DF28F4}"/>
              </a:ext>
            </a:extLst>
          </p:cNvPr>
          <p:cNvSpPr txBox="1">
            <a:spLocks/>
          </p:cNvSpPr>
          <p:nvPr/>
        </p:nvSpPr>
        <p:spPr>
          <a:xfrm>
            <a:off x="-5975" y="115378"/>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a:solidFill>
                  <a:schemeClr val="accent3"/>
                </a:solidFill>
                <a:latin typeface="Fira Code"/>
                <a:ea typeface="Fira Code"/>
                <a:cs typeface="Fira Code"/>
                <a:sym typeface="Fira Code"/>
              </a:rPr>
              <a:t>Data Split &amp;</a:t>
            </a:r>
          </a:p>
          <a:p>
            <a:pPr algn="ctr">
              <a:buClr>
                <a:schemeClr val="accent3"/>
              </a:buClr>
              <a:buSzPts val="1400"/>
            </a:pPr>
            <a:r>
              <a:rPr lang="en-US" altLang="zh-TW" sz="1600">
                <a:solidFill>
                  <a:schemeClr val="accent3"/>
                </a:solidFill>
                <a:latin typeface="Fira Code"/>
                <a:ea typeface="Fira Code"/>
                <a:cs typeface="Fira Code"/>
                <a:sym typeface="Fira Code"/>
              </a:rPr>
              <a:t>Hyperparameter </a:t>
            </a:r>
            <a:r>
              <a:rPr lang="en-US" altLang="zh-TW" sz="1600" err="1">
                <a:solidFill>
                  <a:schemeClr val="accent3"/>
                </a:solidFill>
                <a:latin typeface="Fira Code"/>
                <a:ea typeface="Fira Code"/>
                <a:cs typeface="Fira Code"/>
                <a:sym typeface="Fira Code"/>
              </a:rPr>
              <a:t>Optimisation</a:t>
            </a:r>
            <a:endParaRPr lang="en-GB" sz="1600">
              <a:solidFill>
                <a:schemeClr val="accent3"/>
              </a:solidFill>
              <a:latin typeface="Fira Code"/>
              <a:ea typeface="Fira Code"/>
              <a:cs typeface="Fira Code"/>
              <a:sym typeface="Fira Code"/>
            </a:endParaRPr>
          </a:p>
        </p:txBody>
      </p:sp>
      <p:sp>
        <p:nvSpPr>
          <p:cNvPr id="13" name="文字方塊 12">
            <a:extLst>
              <a:ext uri="{FF2B5EF4-FFF2-40B4-BE49-F238E27FC236}">
                <a16:creationId xmlns:a16="http://schemas.microsoft.com/office/drawing/2014/main" id="{66819073-90DB-2809-AC5D-77DDBEA47075}"/>
              </a:ext>
            </a:extLst>
          </p:cNvPr>
          <p:cNvSpPr txBox="1"/>
          <p:nvPr/>
        </p:nvSpPr>
        <p:spPr>
          <a:xfrm>
            <a:off x="1107735" y="849749"/>
            <a:ext cx="7772400" cy="3321487"/>
          </a:xfrm>
          <a:prstGeom prst="rect">
            <a:avLst/>
          </a:prstGeom>
          <a:noFill/>
        </p:spPr>
        <p:txBody>
          <a:bodyPr wrap="square">
            <a:spAutoFit/>
          </a:bodyPr>
          <a:lstStyle/>
          <a:p>
            <a:pPr algn="l" rtl="0" fontAlgn="base">
              <a:lnSpc>
                <a:spcPct val="150000"/>
              </a:lnSpc>
            </a:pPr>
            <a:r>
              <a:rPr lang="en-US" altLang="zh-TW" sz="1800" dirty="0">
                <a:solidFill>
                  <a:schemeClr val="tx2"/>
                </a:solidFill>
                <a:latin typeface="Fira Code"/>
                <a:ea typeface="Fira Code"/>
                <a:cs typeface="Fira Code"/>
                <a:sym typeface="Fira Code"/>
              </a:rPr>
              <a:t># Data Split</a:t>
            </a:r>
          </a:p>
          <a:p>
            <a:pPr algn="just" rtl="0" fontAlgn="base">
              <a:lnSpc>
                <a:spcPct val="150000"/>
              </a:lnSpc>
            </a:pPr>
            <a:r>
              <a:rPr lang="en-US" altLang="zh-TW" sz="1600" dirty="0">
                <a:solidFill>
                  <a:schemeClr val="accent3"/>
                </a:solidFill>
                <a:latin typeface="Raleway"/>
                <a:ea typeface="Fira Code"/>
                <a:sym typeface="Fira Code"/>
              </a:rPr>
              <a:t>     Training dataset – 80% </a:t>
            </a:r>
          </a:p>
          <a:p>
            <a:pPr algn="just" rtl="0" fontAlgn="base">
              <a:lnSpc>
                <a:spcPct val="150000"/>
              </a:lnSpc>
            </a:pPr>
            <a:r>
              <a:rPr lang="en-US" altLang="zh-TW" sz="1600" dirty="0">
                <a:solidFill>
                  <a:schemeClr val="accent3"/>
                </a:solidFill>
                <a:latin typeface="Raleway"/>
                <a:ea typeface="Fira Code"/>
                <a:sym typeface="Fira Code"/>
              </a:rPr>
              <a:t>     Validation dataset - ​20%</a:t>
            </a:r>
          </a:p>
          <a:p>
            <a:pPr algn="just" rtl="0" fontAlgn="base">
              <a:lnSpc>
                <a:spcPct val="150000"/>
              </a:lnSpc>
            </a:pPr>
            <a:r>
              <a:rPr lang="en-US" altLang="zh-TW" sz="1600" dirty="0">
                <a:solidFill>
                  <a:schemeClr val="accent3"/>
                </a:solidFill>
                <a:latin typeface="Raleway"/>
                <a:ea typeface="Fira Code"/>
                <a:sym typeface="Fira Code"/>
              </a:rPr>
              <a:t>     Test dataset – 31</a:t>
            </a:r>
            <a:r>
              <a:rPr lang="en-US" altLang="zh-TW" sz="1600" baseline="30000" dirty="0">
                <a:solidFill>
                  <a:schemeClr val="accent3"/>
                </a:solidFill>
                <a:latin typeface="Raleway"/>
                <a:ea typeface="Fira Code"/>
                <a:sym typeface="Fira Code"/>
              </a:rPr>
              <a:t>st</a:t>
            </a:r>
            <a:r>
              <a:rPr lang="en-US" altLang="zh-TW" sz="1600" dirty="0">
                <a:solidFill>
                  <a:schemeClr val="accent3"/>
                </a:solidFill>
                <a:latin typeface="Raleway"/>
                <a:ea typeface="Fira Code"/>
                <a:sym typeface="Fira Code"/>
              </a:rPr>
              <a:t> July , 2017 to 15</a:t>
            </a:r>
            <a:r>
              <a:rPr lang="en-US" altLang="zh-TW" sz="1600" baseline="30000" dirty="0">
                <a:solidFill>
                  <a:schemeClr val="accent3"/>
                </a:solidFill>
                <a:latin typeface="Raleway"/>
                <a:ea typeface="Fira Code"/>
                <a:sym typeface="Fira Code"/>
              </a:rPr>
              <a:t>th</a:t>
            </a:r>
            <a:r>
              <a:rPr lang="en-US" altLang="zh-TW" sz="1600" dirty="0">
                <a:solidFill>
                  <a:schemeClr val="accent3"/>
                </a:solidFill>
                <a:latin typeface="Raleway"/>
                <a:ea typeface="Fira Code"/>
                <a:sym typeface="Fira Code"/>
              </a:rPr>
              <a:t> August , 2017</a:t>
            </a:r>
          </a:p>
          <a:p>
            <a:pPr algn="just" fontAlgn="base">
              <a:lnSpc>
                <a:spcPct val="150000"/>
              </a:lnSpc>
            </a:pPr>
            <a:r>
              <a:rPr lang="en-US" altLang="zh-TW" sz="1600" dirty="0">
                <a:solidFill>
                  <a:schemeClr val="accent3"/>
                </a:solidFill>
                <a:latin typeface="Raleway"/>
                <a:ea typeface="Fira Code"/>
                <a:sym typeface="Fira Code"/>
              </a:rPr>
              <a:t>     Used 'Predefined Split' function instead of K-fold cross-validation to ensure </a:t>
            </a:r>
          </a:p>
          <a:p>
            <a:pPr algn="just" fontAlgn="base"/>
            <a:r>
              <a:rPr lang="en-US" altLang="zh-TW" sz="1600" dirty="0">
                <a:solidFill>
                  <a:schemeClr val="accent3"/>
                </a:solidFill>
                <a:latin typeface="Raleway"/>
                <a:ea typeface="Fira Code"/>
                <a:sym typeface="Fira Code"/>
              </a:rPr>
              <a:t>     training and validation data are sequential in the stage of fine-tuning.</a:t>
            </a:r>
          </a:p>
          <a:p>
            <a:pPr algn="l" rtl="0" fontAlgn="base"/>
            <a:endParaRPr lang="en-US" altLang="zh-TW" sz="2000" dirty="0">
              <a:solidFill>
                <a:schemeClr val="accent3"/>
              </a:solidFill>
              <a:latin typeface="Raleway"/>
              <a:ea typeface="Fira Code"/>
              <a:sym typeface="Fira Code"/>
            </a:endParaRPr>
          </a:p>
          <a:p>
            <a:pPr fontAlgn="base">
              <a:lnSpc>
                <a:spcPct val="150000"/>
              </a:lnSpc>
            </a:pPr>
            <a:r>
              <a:rPr lang="en-US" altLang="zh-TW" sz="1800" dirty="0">
                <a:solidFill>
                  <a:schemeClr val="tx2"/>
                </a:solidFill>
                <a:latin typeface="Fira Code"/>
                <a:ea typeface="Fira Code"/>
                <a:cs typeface="Fira Code"/>
                <a:sym typeface="Fira Code"/>
              </a:rPr>
              <a:t># Hyperparameter </a:t>
            </a:r>
            <a:r>
              <a:rPr lang="en-US" altLang="zh-TW" sz="1800" dirty="0" err="1">
                <a:solidFill>
                  <a:schemeClr val="tx2"/>
                </a:solidFill>
                <a:latin typeface="Fira Code"/>
                <a:ea typeface="Fira Code"/>
                <a:cs typeface="Fira Code"/>
                <a:sym typeface="Fira Code"/>
              </a:rPr>
              <a:t>Optimisation</a:t>
            </a:r>
            <a:endParaRPr lang="en-US" altLang="zh-TW" sz="1800" dirty="0">
              <a:solidFill>
                <a:schemeClr val="tx2"/>
              </a:solidFill>
              <a:latin typeface="Fira Code"/>
              <a:ea typeface="Fira Code"/>
              <a:cs typeface="Fira Code"/>
              <a:sym typeface="Fira Code"/>
            </a:endParaRPr>
          </a:p>
          <a:p>
            <a:pPr algn="l" rtl="0" fontAlgn="base">
              <a:lnSpc>
                <a:spcPct val="150000"/>
              </a:lnSpc>
            </a:pPr>
            <a:r>
              <a:rPr lang="en-US" altLang="zh-TW" sz="1800" dirty="0">
                <a:solidFill>
                  <a:schemeClr val="accent3"/>
                </a:solidFill>
                <a:latin typeface="Raleway"/>
                <a:ea typeface="Fira Code"/>
                <a:sym typeface="Fira Code"/>
              </a:rPr>
              <a:t>     </a:t>
            </a:r>
            <a:r>
              <a:rPr lang="en-US" altLang="zh-TW" sz="1600" dirty="0" err="1">
                <a:solidFill>
                  <a:schemeClr val="accent3"/>
                </a:solidFill>
                <a:latin typeface="Raleway"/>
                <a:ea typeface="Fira Code"/>
                <a:sym typeface="Fira Code"/>
              </a:rPr>
              <a:t>GridSearchCV</a:t>
            </a:r>
            <a:r>
              <a:rPr lang="en-US" altLang="zh-TW" sz="1600" dirty="0">
                <a:solidFill>
                  <a:schemeClr val="accent3"/>
                </a:solidFill>
                <a:latin typeface="Raleway"/>
                <a:ea typeface="Fira Code"/>
                <a:sym typeface="Fira Code"/>
              </a:rPr>
              <a:t> for all models</a:t>
            </a:r>
            <a:endParaRPr lang="en-US" altLang="zh-TW" sz="1800" dirty="0">
              <a:solidFill>
                <a:schemeClr val="accent3"/>
              </a:solidFill>
              <a:latin typeface="Raleway"/>
              <a:ea typeface="Fira Code"/>
              <a:sym typeface="Fira Code"/>
            </a:endParaRPr>
          </a:p>
        </p:txBody>
      </p:sp>
      <p:sp>
        <p:nvSpPr>
          <p:cNvPr id="2" name="文字方塊 1">
            <a:extLst>
              <a:ext uri="{FF2B5EF4-FFF2-40B4-BE49-F238E27FC236}">
                <a16:creationId xmlns:a16="http://schemas.microsoft.com/office/drawing/2014/main" id="{04354E17-A330-A63D-BE78-0F57DFBDD539}"/>
              </a:ext>
            </a:extLst>
          </p:cNvPr>
          <p:cNvSpPr txBox="1"/>
          <p:nvPr/>
        </p:nvSpPr>
        <p:spPr>
          <a:xfrm>
            <a:off x="8760562" y="4851110"/>
            <a:ext cx="383438"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14</a:t>
            </a:r>
            <a:endParaRPr lang="zh-TW" altLang="en-US" sz="1300">
              <a:solidFill>
                <a:schemeClr val="accent3"/>
              </a:solidFill>
              <a:latin typeface="Fira Code"/>
              <a:cs typeface="Fira Code"/>
              <a:sym typeface="Fira Code"/>
            </a:endParaRPr>
          </a:p>
        </p:txBody>
      </p:sp>
    </p:spTree>
    <p:extLst>
      <p:ext uri="{BB962C8B-B14F-4D97-AF65-F5344CB8AC3E}">
        <p14:creationId xmlns:p14="http://schemas.microsoft.com/office/powerpoint/2010/main" val="840891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6" name="Google Shape;629;p33">
            <a:extLst>
              <a:ext uri="{FF2B5EF4-FFF2-40B4-BE49-F238E27FC236}">
                <a16:creationId xmlns:a16="http://schemas.microsoft.com/office/drawing/2014/main" id="{B5B984B2-D60E-588B-5D73-4B42A9AC08D2}"/>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Model Selection</a:t>
            </a:r>
          </a:p>
        </p:txBody>
      </p:sp>
      <p:sp>
        <p:nvSpPr>
          <p:cNvPr id="7" name="Google Shape;776;p36">
            <a:extLst>
              <a:ext uri="{FF2B5EF4-FFF2-40B4-BE49-F238E27FC236}">
                <a16:creationId xmlns:a16="http://schemas.microsoft.com/office/drawing/2014/main" id="{F46D6153-61A3-9971-B78A-70CEFA72B4A1}"/>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a:solidFill>
                  <a:schemeClr val="accent3"/>
                </a:solidFill>
                <a:latin typeface="Fira Code"/>
                <a:ea typeface="Fira Code"/>
                <a:cs typeface="Fira Code"/>
                <a:sym typeface="Fira Code"/>
              </a:rPr>
              <a:t>Data Split &amp;</a:t>
            </a:r>
          </a:p>
          <a:p>
            <a:pPr algn="ctr">
              <a:buClr>
                <a:schemeClr val="accent3"/>
              </a:buClr>
              <a:buSzPts val="1400"/>
            </a:pPr>
            <a:r>
              <a:rPr lang="en-US" altLang="zh-TW" sz="1600">
                <a:solidFill>
                  <a:schemeClr val="accent3"/>
                </a:solidFill>
                <a:latin typeface="Fira Code"/>
                <a:ea typeface="Fira Code"/>
                <a:cs typeface="Fira Code"/>
                <a:sym typeface="Fira Code"/>
              </a:rPr>
              <a:t>Hyperparameter </a:t>
            </a:r>
            <a:r>
              <a:rPr lang="en-US" altLang="zh-TW" sz="1600" err="1">
                <a:solidFill>
                  <a:schemeClr val="accent3"/>
                </a:solidFill>
                <a:latin typeface="Fira Code"/>
                <a:ea typeface="Fira Code"/>
                <a:cs typeface="Fira Code"/>
                <a:sym typeface="Fira Code"/>
              </a:rPr>
              <a:t>Optimisation</a:t>
            </a:r>
            <a:endParaRPr lang="en-GB" sz="1600">
              <a:solidFill>
                <a:schemeClr val="accent3"/>
              </a:solidFill>
              <a:latin typeface="Fira Code"/>
              <a:ea typeface="Fira Code"/>
              <a:cs typeface="Fira Code"/>
              <a:sym typeface="Fira Code"/>
            </a:endParaRPr>
          </a:p>
        </p:txBody>
      </p:sp>
      <p:sp>
        <p:nvSpPr>
          <p:cNvPr id="8" name="Google Shape;798;p38">
            <a:extLst>
              <a:ext uri="{FF2B5EF4-FFF2-40B4-BE49-F238E27FC236}">
                <a16:creationId xmlns:a16="http://schemas.microsoft.com/office/drawing/2014/main" id="{6EA9CC2E-30AF-AA6A-03A9-E75768DFED96}"/>
              </a:ext>
            </a:extLst>
          </p:cNvPr>
          <p:cNvSpPr txBox="1">
            <a:spLocks noGrp="1"/>
          </p:cNvSpPr>
          <p:nvPr>
            <p:ph type="title"/>
          </p:nvPr>
        </p:nvSpPr>
        <p:spPr>
          <a:xfrm>
            <a:off x="1235675" y="662022"/>
            <a:ext cx="5341200" cy="63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bg1"/>
                </a:solidFill>
              </a:rPr>
              <a:t>Models Selection </a:t>
            </a:r>
            <a:r>
              <a:rPr lang="en" sz="2400" dirty="0">
                <a:solidFill>
                  <a:schemeClr val="accent6"/>
                </a:solidFill>
              </a:rPr>
              <a:t>{</a:t>
            </a:r>
            <a:r>
              <a:rPr lang="en" sz="2400" dirty="0">
                <a:solidFill>
                  <a:schemeClr val="lt1"/>
                </a:solidFill>
              </a:rPr>
              <a:t>  </a:t>
            </a:r>
            <a:endParaRPr sz="2400" dirty="0">
              <a:solidFill>
                <a:schemeClr val="lt1"/>
              </a:solidFill>
            </a:endParaRPr>
          </a:p>
        </p:txBody>
      </p:sp>
      <p:sp>
        <p:nvSpPr>
          <p:cNvPr id="9" name="Google Shape;799;p38">
            <a:extLst>
              <a:ext uri="{FF2B5EF4-FFF2-40B4-BE49-F238E27FC236}">
                <a16:creationId xmlns:a16="http://schemas.microsoft.com/office/drawing/2014/main" id="{E10EF5F1-69C2-61F5-3DC0-48976B6EC193}"/>
              </a:ext>
            </a:extLst>
          </p:cNvPr>
          <p:cNvSpPr txBox="1">
            <a:spLocks noGrp="1"/>
          </p:cNvSpPr>
          <p:nvPr>
            <p:ph type="subTitle" idx="1"/>
          </p:nvPr>
        </p:nvSpPr>
        <p:spPr>
          <a:xfrm>
            <a:off x="2280025" y="1408983"/>
            <a:ext cx="4153431" cy="2571241"/>
          </a:xfrm>
          <a:prstGeom prst="rect">
            <a:avLst/>
          </a:prstGeom>
        </p:spPr>
        <p:txBody>
          <a:bodyPr spcFirstLastPara="1" wrap="square" lIns="91425" tIns="91425" rIns="91425" bIns="91425" anchor="ctr" anchorCtr="0">
            <a:noAutofit/>
          </a:bodyPr>
          <a:lstStyle/>
          <a:p>
            <a:pPr marL="0" lvl="0" indent="0" algn="l" rtl="0">
              <a:lnSpc>
                <a:spcPct val="150000"/>
              </a:lnSpc>
              <a:spcBef>
                <a:spcPts val="0"/>
              </a:spcBef>
              <a:spcAft>
                <a:spcPts val="0"/>
              </a:spcAft>
              <a:buNone/>
            </a:pPr>
            <a:r>
              <a:rPr lang="en-GB" sz="1600" dirty="0"/>
              <a:t>&lt; </a:t>
            </a:r>
            <a:r>
              <a:rPr lang="en-US" altLang="zh-TW" sz="1600" dirty="0">
                <a:solidFill>
                  <a:schemeClr val="tx2"/>
                </a:solidFill>
              </a:rPr>
              <a:t>Linear Regression </a:t>
            </a:r>
          </a:p>
          <a:p>
            <a:pPr marL="0" lvl="0" indent="0" algn="l" rtl="0">
              <a:lnSpc>
                <a:spcPct val="150000"/>
              </a:lnSpc>
              <a:spcBef>
                <a:spcPts val="0"/>
              </a:spcBef>
              <a:spcAft>
                <a:spcPts val="0"/>
              </a:spcAft>
              <a:buNone/>
            </a:pPr>
            <a:r>
              <a:rPr lang="en-US" altLang="zh-TW" sz="1600" dirty="0">
                <a:solidFill>
                  <a:schemeClr val="tx2"/>
                </a:solidFill>
              </a:rPr>
              <a:t>	Random Forest</a:t>
            </a:r>
            <a:endParaRPr lang="en-US" sz="1600" dirty="0">
              <a:solidFill>
                <a:schemeClr val="tx2"/>
              </a:solidFill>
            </a:endParaRPr>
          </a:p>
          <a:p>
            <a:pPr marL="0" indent="0">
              <a:lnSpc>
                <a:spcPct val="150000"/>
              </a:lnSpc>
            </a:pPr>
            <a:r>
              <a:rPr lang="en-US" sz="1600" dirty="0">
                <a:solidFill>
                  <a:schemeClr val="tx2"/>
                </a:solidFill>
              </a:rPr>
              <a:t>  	Multi-layer Perceptron</a:t>
            </a:r>
          </a:p>
          <a:p>
            <a:pPr marL="0" indent="0">
              <a:lnSpc>
                <a:spcPct val="150000"/>
              </a:lnSpc>
            </a:pPr>
            <a:r>
              <a:rPr lang="en-US" sz="1600" dirty="0">
                <a:solidFill>
                  <a:schemeClr val="tx2"/>
                </a:solidFill>
              </a:rPr>
              <a:t> 	</a:t>
            </a:r>
            <a:r>
              <a:rPr lang="en-US" altLang="zh-TW" sz="1600" dirty="0" err="1">
                <a:solidFill>
                  <a:schemeClr val="tx2"/>
                </a:solidFill>
              </a:rPr>
              <a:t>XGBoost</a:t>
            </a:r>
            <a:endParaRPr lang="en-US" altLang="zh-TW" sz="1600" dirty="0">
              <a:solidFill>
                <a:schemeClr val="tx2"/>
              </a:solidFill>
            </a:endParaRPr>
          </a:p>
          <a:p>
            <a:pPr marL="0" indent="0">
              <a:lnSpc>
                <a:spcPct val="150000"/>
              </a:lnSpc>
            </a:pPr>
            <a:r>
              <a:rPr lang="en-US" altLang="zh-TW" sz="1600" dirty="0">
                <a:solidFill>
                  <a:schemeClr val="tx2"/>
                </a:solidFill>
              </a:rPr>
              <a:t> 	</a:t>
            </a:r>
            <a:r>
              <a:rPr lang="en-US" altLang="zh-TW" sz="1600" dirty="0" err="1">
                <a:solidFill>
                  <a:schemeClr val="tx2"/>
                </a:solidFill>
              </a:rPr>
              <a:t>LightGBM</a:t>
            </a:r>
            <a:endParaRPr lang="en-US" sz="1600" dirty="0">
              <a:solidFill>
                <a:schemeClr val="tx2"/>
              </a:solidFill>
            </a:endParaRPr>
          </a:p>
          <a:p>
            <a:pPr marL="0" lvl="0" indent="0" algn="l" rtl="0">
              <a:lnSpc>
                <a:spcPct val="150000"/>
              </a:lnSpc>
              <a:spcBef>
                <a:spcPts val="0"/>
              </a:spcBef>
              <a:spcAft>
                <a:spcPts val="0"/>
              </a:spcAft>
              <a:buNone/>
            </a:pPr>
            <a:r>
              <a:rPr lang="en-GB" sz="1600" dirty="0"/>
              <a:t>&gt;</a:t>
            </a:r>
          </a:p>
        </p:txBody>
      </p:sp>
      <p:grpSp>
        <p:nvGrpSpPr>
          <p:cNvPr id="10" name="Google Shape;800;p38">
            <a:extLst>
              <a:ext uri="{FF2B5EF4-FFF2-40B4-BE49-F238E27FC236}">
                <a16:creationId xmlns:a16="http://schemas.microsoft.com/office/drawing/2014/main" id="{32DE1FE3-E22F-9287-BCFD-C775302F6922}"/>
              </a:ext>
            </a:extLst>
          </p:cNvPr>
          <p:cNvGrpSpPr/>
          <p:nvPr/>
        </p:nvGrpSpPr>
        <p:grpSpPr>
          <a:xfrm>
            <a:off x="1138165" y="1408983"/>
            <a:ext cx="506100" cy="3125209"/>
            <a:chOff x="1084825" y="1403975"/>
            <a:chExt cx="506100" cy="3125209"/>
          </a:xfrm>
        </p:grpSpPr>
        <p:sp>
          <p:nvSpPr>
            <p:cNvPr id="11" name="Google Shape;801;p38">
              <a:extLst>
                <a:ext uri="{FF2B5EF4-FFF2-40B4-BE49-F238E27FC236}">
                  <a16:creationId xmlns:a16="http://schemas.microsoft.com/office/drawing/2014/main" id="{96A24A57-D135-3855-573C-14667A161204}"/>
                </a:ext>
              </a:extLst>
            </p:cNvPr>
            <p:cNvSpPr txBox="1"/>
            <p:nvPr/>
          </p:nvSpPr>
          <p:spPr>
            <a:xfrm>
              <a:off x="1084825" y="3975216"/>
              <a:ext cx="506100"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a:solidFill>
                    <a:schemeClr val="accent6"/>
                  </a:solidFill>
                  <a:latin typeface="Fira Code"/>
                  <a:ea typeface="Fira Code"/>
                  <a:cs typeface="Fira Code"/>
                  <a:sym typeface="Fira Code"/>
                </a:rPr>
                <a:t>}</a:t>
              </a:r>
              <a:endParaRPr sz="2400">
                <a:solidFill>
                  <a:schemeClr val="accent6"/>
                </a:solidFill>
                <a:latin typeface="Fira Code"/>
                <a:ea typeface="Fira Code"/>
                <a:cs typeface="Fira Code"/>
                <a:sym typeface="Fira Code"/>
              </a:endParaRPr>
            </a:p>
          </p:txBody>
        </p:sp>
        <p:cxnSp>
          <p:nvCxnSpPr>
            <p:cNvPr id="12" name="Google Shape;802;p38">
              <a:extLst>
                <a:ext uri="{FF2B5EF4-FFF2-40B4-BE49-F238E27FC236}">
                  <a16:creationId xmlns:a16="http://schemas.microsoft.com/office/drawing/2014/main" id="{9346242D-3AC0-CD45-9E2F-4DC0F371095A}"/>
                </a:ext>
              </a:extLst>
            </p:cNvPr>
            <p:cNvCxnSpPr>
              <a:cxnSpLocks/>
              <a:endCxn id="11" idx="0"/>
            </p:cNvCxnSpPr>
            <p:nvPr/>
          </p:nvCxnSpPr>
          <p:spPr>
            <a:xfrm>
              <a:off x="1337875" y="1403975"/>
              <a:ext cx="0" cy="2571241"/>
            </a:xfrm>
            <a:prstGeom prst="straightConnector1">
              <a:avLst/>
            </a:prstGeom>
            <a:noFill/>
            <a:ln w="9525" cap="flat" cmpd="sng">
              <a:solidFill>
                <a:schemeClr val="accent4"/>
              </a:solidFill>
              <a:prstDash val="solid"/>
              <a:round/>
              <a:headEnd type="none" w="med" len="med"/>
              <a:tailEnd type="none" w="med" len="med"/>
            </a:ln>
          </p:spPr>
        </p:cxnSp>
      </p:grpSp>
      <p:sp>
        <p:nvSpPr>
          <p:cNvPr id="2" name="文字方塊 1">
            <a:extLst>
              <a:ext uri="{FF2B5EF4-FFF2-40B4-BE49-F238E27FC236}">
                <a16:creationId xmlns:a16="http://schemas.microsoft.com/office/drawing/2014/main" id="{FA031206-A08B-71A3-F982-39C456EEAC64}"/>
              </a:ext>
            </a:extLst>
          </p:cNvPr>
          <p:cNvSpPr txBox="1"/>
          <p:nvPr/>
        </p:nvSpPr>
        <p:spPr>
          <a:xfrm>
            <a:off x="8760562" y="4851110"/>
            <a:ext cx="383438" cy="292388"/>
          </a:xfrm>
          <a:prstGeom prst="rect">
            <a:avLst/>
          </a:prstGeom>
          <a:noFill/>
        </p:spPr>
        <p:txBody>
          <a:bodyPr wrap="none" rtlCol="0">
            <a:spAutoFit/>
          </a:bodyPr>
          <a:lstStyle/>
          <a:p>
            <a:r>
              <a:rPr lang="en-US" altLang="zh-TW" sz="1300">
                <a:solidFill>
                  <a:schemeClr val="accent3"/>
                </a:solidFill>
                <a:latin typeface="Fira Code"/>
                <a:ea typeface="Fira Code"/>
                <a:cs typeface="Fira Code"/>
                <a:sym typeface="Fira Code"/>
              </a:rPr>
              <a:t>15</a:t>
            </a:r>
            <a:endParaRPr lang="zh-TW" altLang="en-US" sz="1300">
              <a:solidFill>
                <a:schemeClr val="accent3"/>
              </a:solidFill>
              <a:latin typeface="Fira Code"/>
              <a:cs typeface="Fira Code"/>
              <a:sym typeface="Fira Code"/>
            </a:endParaRPr>
          </a:p>
        </p:txBody>
      </p:sp>
    </p:spTree>
    <p:extLst>
      <p:ext uri="{BB962C8B-B14F-4D97-AF65-F5344CB8AC3E}">
        <p14:creationId xmlns:p14="http://schemas.microsoft.com/office/powerpoint/2010/main" val="3853961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3" name="矩形 2">
            <a:extLst>
              <a:ext uri="{FF2B5EF4-FFF2-40B4-BE49-F238E27FC236}">
                <a16:creationId xmlns:a16="http://schemas.microsoft.com/office/drawing/2014/main" id="{05B943BB-CF3E-965B-695D-A0B4FB608D7C}"/>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Google Shape;629;p33">
            <a:extLst>
              <a:ext uri="{FF2B5EF4-FFF2-40B4-BE49-F238E27FC236}">
                <a16:creationId xmlns:a16="http://schemas.microsoft.com/office/drawing/2014/main" id="{B5B984B2-D60E-588B-5D73-4B42A9AC08D2}"/>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a:solidFill>
                  <a:schemeClr val="accent3"/>
                </a:solidFill>
              </a:rPr>
              <a:t>Model Selection</a:t>
            </a:r>
          </a:p>
        </p:txBody>
      </p:sp>
      <p:sp>
        <p:nvSpPr>
          <p:cNvPr id="7" name="Google Shape;776;p36">
            <a:extLst>
              <a:ext uri="{FF2B5EF4-FFF2-40B4-BE49-F238E27FC236}">
                <a16:creationId xmlns:a16="http://schemas.microsoft.com/office/drawing/2014/main" id="{F46D6153-61A3-9971-B78A-70CEFA72B4A1}"/>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a:solidFill>
                  <a:schemeClr val="accent3"/>
                </a:solidFill>
                <a:latin typeface="Fira Code"/>
                <a:ea typeface="Fira Code"/>
                <a:cs typeface="Fira Code"/>
                <a:sym typeface="Fira Code"/>
              </a:rPr>
              <a:t>Data Split &amp;</a:t>
            </a:r>
          </a:p>
          <a:p>
            <a:pPr algn="ctr">
              <a:buClr>
                <a:schemeClr val="accent3"/>
              </a:buClr>
              <a:buSzPts val="1400"/>
            </a:pPr>
            <a:r>
              <a:rPr lang="en-US" altLang="zh-TW" sz="1600">
                <a:solidFill>
                  <a:schemeClr val="accent3"/>
                </a:solidFill>
                <a:latin typeface="Fira Code"/>
                <a:ea typeface="Fira Code"/>
                <a:cs typeface="Fira Code"/>
                <a:sym typeface="Fira Code"/>
              </a:rPr>
              <a:t>Hyperparameter </a:t>
            </a:r>
            <a:r>
              <a:rPr lang="en-US" altLang="zh-TW" sz="1600" err="1">
                <a:solidFill>
                  <a:schemeClr val="accent3"/>
                </a:solidFill>
                <a:latin typeface="Fira Code"/>
                <a:ea typeface="Fira Code"/>
                <a:cs typeface="Fira Code"/>
                <a:sym typeface="Fira Code"/>
              </a:rPr>
              <a:t>Optimisation</a:t>
            </a:r>
            <a:endParaRPr lang="en-GB" sz="1600">
              <a:solidFill>
                <a:schemeClr val="accent3"/>
              </a:solidFill>
              <a:latin typeface="Fira Code"/>
              <a:ea typeface="Fira Code"/>
              <a:cs typeface="Fira Code"/>
              <a:sym typeface="Fira Code"/>
            </a:endParaRPr>
          </a:p>
        </p:txBody>
      </p:sp>
      <p:sp>
        <p:nvSpPr>
          <p:cNvPr id="8" name="Google Shape;798;p38">
            <a:extLst>
              <a:ext uri="{FF2B5EF4-FFF2-40B4-BE49-F238E27FC236}">
                <a16:creationId xmlns:a16="http://schemas.microsoft.com/office/drawing/2014/main" id="{6EA9CC2E-30AF-AA6A-03A9-E75768DFED96}"/>
              </a:ext>
            </a:extLst>
          </p:cNvPr>
          <p:cNvSpPr txBox="1">
            <a:spLocks noGrp="1"/>
          </p:cNvSpPr>
          <p:nvPr>
            <p:ph type="title"/>
          </p:nvPr>
        </p:nvSpPr>
        <p:spPr>
          <a:xfrm>
            <a:off x="1129539" y="584662"/>
            <a:ext cx="5341200" cy="63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bg1"/>
                </a:solidFill>
              </a:rPr>
              <a:t>Models Selection</a:t>
            </a:r>
            <a:r>
              <a:rPr lang="en" sz="2400" dirty="0">
                <a:solidFill>
                  <a:schemeClr val="lt1"/>
                </a:solidFill>
              </a:rPr>
              <a:t>  </a:t>
            </a:r>
            <a:endParaRPr sz="2400" dirty="0">
              <a:solidFill>
                <a:schemeClr val="lt1"/>
              </a:solidFill>
            </a:endParaRPr>
          </a:p>
        </p:txBody>
      </p:sp>
      <p:sp>
        <p:nvSpPr>
          <p:cNvPr id="9" name="Google Shape;799;p38">
            <a:extLst>
              <a:ext uri="{FF2B5EF4-FFF2-40B4-BE49-F238E27FC236}">
                <a16:creationId xmlns:a16="http://schemas.microsoft.com/office/drawing/2014/main" id="{E10EF5F1-69C2-61F5-3DC0-48976B6EC193}"/>
              </a:ext>
            </a:extLst>
          </p:cNvPr>
          <p:cNvSpPr txBox="1">
            <a:spLocks noGrp="1"/>
          </p:cNvSpPr>
          <p:nvPr>
            <p:ph type="subTitle" idx="1"/>
          </p:nvPr>
        </p:nvSpPr>
        <p:spPr>
          <a:xfrm>
            <a:off x="872506" y="1072839"/>
            <a:ext cx="8079775" cy="1293512"/>
          </a:xfrm>
          <a:prstGeom prst="rect">
            <a:avLst/>
          </a:prstGeom>
        </p:spPr>
        <p:txBody>
          <a:bodyPr spcFirstLastPara="1" wrap="square" lIns="91425" tIns="91425" rIns="91425" bIns="91425" anchor="t" anchorCtr="0">
            <a:noAutofit/>
          </a:bodyPr>
          <a:lstStyle/>
          <a:p>
            <a:pPr marL="139700" indent="0" algn="l" rtl="0" fontAlgn="base">
              <a:lnSpc>
                <a:spcPct val="150000"/>
              </a:lnSpc>
            </a:pPr>
            <a:r>
              <a:rPr lang="en-US" altLang="zh-TW" sz="1600" dirty="0">
                <a:solidFill>
                  <a:schemeClr val="tx2"/>
                </a:solidFill>
              </a:rPr>
              <a:t>Linear Regression Insights</a:t>
            </a:r>
          </a:p>
          <a:p>
            <a:pPr marL="139700" indent="0" algn="l" rtl="0" fontAlgn="base">
              <a:lnSpc>
                <a:spcPts val="2000"/>
              </a:lnSpc>
            </a:pPr>
            <a:r>
              <a:rPr lang="en-US" altLang="zh-TW" dirty="0">
                <a:latin typeface="Raleway"/>
                <a:cs typeface="Arial"/>
                <a:sym typeface="Arial"/>
              </a:rPr>
              <a:t>	Initial Attempt: Commenced with Linear Regression as a baseline model.​</a:t>
            </a:r>
          </a:p>
          <a:p>
            <a:pPr marL="139700" indent="0" algn="l" rtl="0" fontAlgn="base">
              <a:lnSpc>
                <a:spcPts val="2000"/>
              </a:lnSpc>
            </a:pPr>
            <a:r>
              <a:rPr lang="en-US" altLang="zh-TW" dirty="0">
                <a:latin typeface="Raleway"/>
                <a:cs typeface="Arial"/>
                <a:sym typeface="Arial"/>
              </a:rPr>
              <a:t>	Observation: Not all store-product combinations were accommodated effectively.​</a:t>
            </a:r>
          </a:p>
          <a:p>
            <a:pPr marL="139700" indent="0" algn="l" rtl="0" fontAlgn="base">
              <a:lnSpc>
                <a:spcPts val="2000"/>
              </a:lnSpc>
            </a:pPr>
            <a:r>
              <a:rPr lang="en-US" altLang="zh-TW" dirty="0">
                <a:latin typeface="Raleway"/>
                <a:cs typeface="Arial"/>
                <a:sym typeface="Arial"/>
              </a:rPr>
              <a:t>	Performance Assessment: Suboptimal results for many combinations.​</a:t>
            </a:r>
            <a:endParaRPr lang="en-US" altLang="zh-TW" sz="1100" dirty="0">
              <a:latin typeface="Raleway"/>
              <a:cs typeface="Arial"/>
              <a:sym typeface="Arial"/>
            </a:endParaRPr>
          </a:p>
        </p:txBody>
      </p:sp>
      <p:sp>
        <p:nvSpPr>
          <p:cNvPr id="2" name="文字方塊 1">
            <a:extLst>
              <a:ext uri="{FF2B5EF4-FFF2-40B4-BE49-F238E27FC236}">
                <a16:creationId xmlns:a16="http://schemas.microsoft.com/office/drawing/2014/main" id="{FA031206-A08B-71A3-F982-39C456EEAC64}"/>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16</a:t>
            </a:r>
            <a:endParaRPr lang="zh-TW" altLang="en-US" sz="1300" dirty="0">
              <a:solidFill>
                <a:schemeClr val="accent3"/>
              </a:solidFill>
              <a:latin typeface="Fira Code"/>
              <a:cs typeface="Fira Code"/>
              <a:sym typeface="Fira Code"/>
            </a:endParaRPr>
          </a:p>
        </p:txBody>
      </p:sp>
      <p:sp>
        <p:nvSpPr>
          <p:cNvPr id="4" name="文字方塊 3">
            <a:extLst>
              <a:ext uri="{FF2B5EF4-FFF2-40B4-BE49-F238E27FC236}">
                <a16:creationId xmlns:a16="http://schemas.microsoft.com/office/drawing/2014/main" id="{E429F27B-1A92-C40C-ACA1-C7A31D4030D4}"/>
              </a:ext>
            </a:extLst>
          </p:cNvPr>
          <p:cNvSpPr txBox="1"/>
          <p:nvPr/>
        </p:nvSpPr>
        <p:spPr>
          <a:xfrm>
            <a:off x="872506" y="2380915"/>
            <a:ext cx="7148111" cy="1209947"/>
          </a:xfrm>
          <a:prstGeom prst="rect">
            <a:avLst/>
          </a:prstGeom>
          <a:noFill/>
        </p:spPr>
        <p:txBody>
          <a:bodyPr wrap="none" rtlCol="0">
            <a:spAutoFit/>
          </a:bodyPr>
          <a:lstStyle/>
          <a:p>
            <a:pPr marL="139700" indent="0" algn="l" rtl="0" fontAlgn="base">
              <a:lnSpc>
                <a:spcPct val="150000"/>
              </a:lnSpc>
            </a:pPr>
            <a:r>
              <a:rPr lang="en-US" altLang="zh-TW" sz="1600" dirty="0">
                <a:solidFill>
                  <a:schemeClr val="tx2"/>
                </a:solidFill>
                <a:latin typeface="Fira Code"/>
                <a:ea typeface="Fira Code"/>
                <a:cs typeface="Fira Code"/>
                <a:sym typeface="Fira Code"/>
              </a:rPr>
              <a:t>Diversified Approach with Ensemble​</a:t>
            </a:r>
          </a:p>
          <a:p>
            <a:pPr marL="139700" indent="0" algn="l" rtl="0" fontAlgn="base">
              <a:lnSpc>
                <a:spcPts val="2000"/>
              </a:lnSpc>
            </a:pPr>
            <a:r>
              <a:rPr lang="en-US" altLang="zh-TW" dirty="0">
                <a:solidFill>
                  <a:schemeClr val="accent3"/>
                </a:solidFill>
                <a:latin typeface="Raleway"/>
                <a:ea typeface="Fira Code"/>
                <a:sym typeface="Fira Code"/>
              </a:rPr>
              <a:t>	Challenges Addressed: To tackle complex data and varied combinations.​</a:t>
            </a:r>
          </a:p>
          <a:p>
            <a:pPr marL="139700" indent="0" algn="l" rtl="0" fontAlgn="base">
              <a:lnSpc>
                <a:spcPts val="2000"/>
              </a:lnSpc>
            </a:pPr>
            <a:r>
              <a:rPr lang="en-US" altLang="zh-TW" dirty="0">
                <a:solidFill>
                  <a:schemeClr val="accent3"/>
                </a:solidFill>
                <a:latin typeface="Raleway"/>
                <a:ea typeface="Fira Code"/>
                <a:sym typeface="Fira Code"/>
              </a:rPr>
              <a:t>	Ensemble Models Chosen:​</a:t>
            </a:r>
          </a:p>
          <a:p>
            <a:pPr marL="139700" indent="0" algn="l" rtl="0" fontAlgn="base">
              <a:lnSpc>
                <a:spcPts val="2000"/>
              </a:lnSpc>
            </a:pPr>
            <a:r>
              <a:rPr lang="en-US" altLang="zh-TW" dirty="0">
                <a:solidFill>
                  <a:schemeClr val="accent3"/>
                </a:solidFill>
                <a:latin typeface="Raleway"/>
                <a:ea typeface="Fira Code"/>
                <a:sym typeface="Fira Code"/>
              </a:rPr>
              <a:t>	Random Forest: </a:t>
            </a:r>
            <a:r>
              <a:rPr lang="en-US" altLang="zh-TW" dirty="0" err="1">
                <a:solidFill>
                  <a:schemeClr val="accent3"/>
                </a:solidFill>
                <a:latin typeface="Raleway"/>
                <a:ea typeface="Fira Code"/>
                <a:sym typeface="Fira Code"/>
              </a:rPr>
              <a:t>XGBoost:LightGBM</a:t>
            </a:r>
            <a:r>
              <a:rPr lang="en-US" altLang="zh-TW" dirty="0">
                <a:solidFill>
                  <a:schemeClr val="accent3"/>
                </a:solidFill>
                <a:latin typeface="Raleway"/>
                <a:ea typeface="Fira Code"/>
                <a:sym typeface="Fira Code"/>
              </a:rPr>
              <a:t>: MLP (Multi-Layer Perceptron)</a:t>
            </a:r>
          </a:p>
        </p:txBody>
      </p:sp>
      <p:sp>
        <p:nvSpPr>
          <p:cNvPr id="5" name="文字方塊 4">
            <a:extLst>
              <a:ext uri="{FF2B5EF4-FFF2-40B4-BE49-F238E27FC236}">
                <a16:creationId xmlns:a16="http://schemas.microsoft.com/office/drawing/2014/main" id="{F869BAF7-A373-9350-0F9D-C737C9A40568}"/>
              </a:ext>
            </a:extLst>
          </p:cNvPr>
          <p:cNvSpPr txBox="1"/>
          <p:nvPr/>
        </p:nvSpPr>
        <p:spPr>
          <a:xfrm>
            <a:off x="872506" y="3605425"/>
            <a:ext cx="7957628" cy="1446550"/>
          </a:xfrm>
          <a:prstGeom prst="rect">
            <a:avLst/>
          </a:prstGeom>
          <a:noFill/>
        </p:spPr>
        <p:txBody>
          <a:bodyPr wrap="none" rtlCol="0">
            <a:spAutoFit/>
          </a:bodyPr>
          <a:lstStyle/>
          <a:p>
            <a:pPr marL="139700" indent="0" algn="l" rtl="0" fontAlgn="base">
              <a:lnSpc>
                <a:spcPct val="150000"/>
              </a:lnSpc>
            </a:pPr>
            <a:r>
              <a:rPr lang="en-US" altLang="zh-TW" sz="1600" dirty="0">
                <a:solidFill>
                  <a:schemeClr val="tx2"/>
                </a:solidFill>
                <a:latin typeface="Fira Code"/>
                <a:ea typeface="Fira Code"/>
                <a:cs typeface="Fira Code"/>
              </a:rPr>
              <a:t>Advantages of Ensemble Models</a:t>
            </a:r>
          </a:p>
          <a:p>
            <a:pPr marL="139700" fontAlgn="base">
              <a:lnSpc>
                <a:spcPts val="2000"/>
              </a:lnSpc>
            </a:pPr>
            <a:r>
              <a:rPr lang="en-US" altLang="zh-TW" sz="1600" dirty="0">
                <a:solidFill>
                  <a:schemeClr val="tx2"/>
                </a:solidFill>
                <a:latin typeface="Raleway"/>
                <a:cs typeface="Arial"/>
              </a:rPr>
              <a:t>	</a:t>
            </a:r>
            <a:r>
              <a:rPr lang="en-US" altLang="zh-TW" dirty="0">
                <a:solidFill>
                  <a:schemeClr val="accent3"/>
                </a:solidFill>
                <a:latin typeface="Raleway"/>
                <a:ea typeface="Fira Code"/>
              </a:rPr>
              <a:t>Robust Handling: Accommodates diverse store-product dynamics.​</a:t>
            </a:r>
          </a:p>
          <a:p>
            <a:pPr marL="139700" fontAlgn="base">
              <a:lnSpc>
                <a:spcPts val="2000"/>
              </a:lnSpc>
            </a:pPr>
            <a:r>
              <a:rPr lang="en-US" altLang="zh-TW" dirty="0">
                <a:solidFill>
                  <a:schemeClr val="accent3"/>
                </a:solidFill>
                <a:latin typeface="Raleway"/>
                <a:ea typeface="Fira Code"/>
              </a:rPr>
              <a:t>	Enhanced Performance: Overcomes limitations observed with Linear Regression.​</a:t>
            </a:r>
          </a:p>
          <a:p>
            <a:pPr marL="139700" fontAlgn="base">
              <a:lnSpc>
                <a:spcPts val="2000"/>
              </a:lnSpc>
            </a:pPr>
            <a:r>
              <a:rPr lang="en-US" altLang="zh-TW" dirty="0">
                <a:solidFill>
                  <a:schemeClr val="accent3"/>
                </a:solidFill>
                <a:latin typeface="Raleway"/>
                <a:ea typeface="Fira Code"/>
              </a:rPr>
              <a:t>	Specialized Strengths: Each model selected for specific strengths and adaptability.</a:t>
            </a:r>
          </a:p>
          <a:p>
            <a:endParaRPr lang="zh-TW" altLang="en-US" dirty="0"/>
          </a:p>
        </p:txBody>
      </p:sp>
      <p:sp>
        <p:nvSpPr>
          <p:cNvPr id="10" name="矩形 9">
            <a:extLst>
              <a:ext uri="{FF2B5EF4-FFF2-40B4-BE49-F238E27FC236}">
                <a16:creationId xmlns:a16="http://schemas.microsoft.com/office/drawing/2014/main" id="{7BB97BC5-C827-C8F7-CF7D-F8487282F16C}"/>
              </a:ext>
            </a:extLst>
          </p:cNvPr>
          <p:cNvSpPr/>
          <p:nvPr/>
        </p:nvSpPr>
        <p:spPr>
          <a:xfrm>
            <a:off x="1104286" y="2355765"/>
            <a:ext cx="7731123" cy="2470194"/>
          </a:xfrm>
          <a:prstGeom prst="rect">
            <a:avLst/>
          </a:prstGeom>
          <a:solidFill>
            <a:srgbClr val="2E323B">
              <a:alpha val="9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2460B167-20B8-83BB-74EB-897F96344303}"/>
              </a:ext>
            </a:extLst>
          </p:cNvPr>
          <p:cNvSpPr/>
          <p:nvPr/>
        </p:nvSpPr>
        <p:spPr>
          <a:xfrm>
            <a:off x="1080454" y="1222162"/>
            <a:ext cx="7731123" cy="1077817"/>
          </a:xfrm>
          <a:prstGeom prst="rect">
            <a:avLst/>
          </a:prstGeom>
          <a:solidFill>
            <a:srgbClr val="2E323B">
              <a:alpha val="9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A3FF8747-3E45-D5DA-D27A-B1231F9065D7}"/>
              </a:ext>
            </a:extLst>
          </p:cNvPr>
          <p:cNvSpPr/>
          <p:nvPr/>
        </p:nvSpPr>
        <p:spPr>
          <a:xfrm>
            <a:off x="1018888" y="3731828"/>
            <a:ext cx="7731123" cy="1119281"/>
          </a:xfrm>
          <a:prstGeom prst="rect">
            <a:avLst/>
          </a:prstGeom>
          <a:solidFill>
            <a:srgbClr val="2E323B">
              <a:alpha val="9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id="{51FB5303-11C2-C36F-B03F-F67B4F2B9787}"/>
              </a:ext>
            </a:extLst>
          </p:cNvPr>
          <p:cNvSpPr/>
          <p:nvPr/>
        </p:nvSpPr>
        <p:spPr>
          <a:xfrm>
            <a:off x="1035535" y="1151670"/>
            <a:ext cx="7731123" cy="2470194"/>
          </a:xfrm>
          <a:prstGeom prst="rect">
            <a:avLst/>
          </a:prstGeom>
          <a:solidFill>
            <a:srgbClr val="2E323B">
              <a:alpha val="9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58685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2" grpId="1"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9" name="矩形 8">
            <a:extLst>
              <a:ext uri="{FF2B5EF4-FFF2-40B4-BE49-F238E27FC236}">
                <a16:creationId xmlns:a16="http://schemas.microsoft.com/office/drawing/2014/main" id="{55C93F2C-90D2-9B68-C2F1-2A1C442F899F}"/>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Google Shape;629;p33">
            <a:extLst>
              <a:ext uri="{FF2B5EF4-FFF2-40B4-BE49-F238E27FC236}">
                <a16:creationId xmlns:a16="http://schemas.microsoft.com/office/drawing/2014/main" id="{B5A13D34-4D26-CC5D-955E-00C84BA79597}"/>
              </a:ext>
            </a:extLst>
          </p:cNvPr>
          <p:cNvSpPr txBox="1">
            <a:spLocks/>
          </p:cNvSpPr>
          <p:nvPr/>
        </p:nvSpPr>
        <p:spPr>
          <a:xfrm>
            <a:off x="4566025"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dirty="0">
                <a:solidFill>
                  <a:schemeClr val="accent3"/>
                </a:solidFill>
              </a:rPr>
              <a:t>Prediction</a:t>
            </a:r>
          </a:p>
        </p:txBody>
      </p:sp>
      <p:sp>
        <p:nvSpPr>
          <p:cNvPr id="16" name="文字方塊 15">
            <a:extLst>
              <a:ext uri="{FF2B5EF4-FFF2-40B4-BE49-F238E27FC236}">
                <a16:creationId xmlns:a16="http://schemas.microsoft.com/office/drawing/2014/main" id="{C1B059AC-3F01-A4C3-34E1-4BBB9165FD52}"/>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17</a:t>
            </a:r>
            <a:endParaRPr lang="zh-TW" altLang="en-US" sz="1300" dirty="0">
              <a:solidFill>
                <a:schemeClr val="accent3"/>
              </a:solidFill>
              <a:latin typeface="Fira Code"/>
              <a:cs typeface="Fira Code"/>
              <a:sym typeface="Fira Code"/>
            </a:endParaRPr>
          </a:p>
        </p:txBody>
      </p:sp>
      <p:sp>
        <p:nvSpPr>
          <p:cNvPr id="3" name="Google Shape;798;p38">
            <a:extLst>
              <a:ext uri="{FF2B5EF4-FFF2-40B4-BE49-F238E27FC236}">
                <a16:creationId xmlns:a16="http://schemas.microsoft.com/office/drawing/2014/main" id="{5060E276-92CA-941D-968F-B3347B0D6AE7}"/>
              </a:ext>
            </a:extLst>
          </p:cNvPr>
          <p:cNvSpPr txBox="1">
            <a:spLocks noGrp="1"/>
          </p:cNvSpPr>
          <p:nvPr>
            <p:ph type="title"/>
          </p:nvPr>
        </p:nvSpPr>
        <p:spPr>
          <a:xfrm>
            <a:off x="1087069" y="673108"/>
            <a:ext cx="5131313" cy="47510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bg2"/>
                </a:solidFill>
              </a:rPr>
              <a:t>Predictions</a:t>
            </a:r>
            <a:endParaRPr sz="2400" dirty="0">
              <a:solidFill>
                <a:schemeClr val="bg2"/>
              </a:solidFill>
            </a:endParaRPr>
          </a:p>
        </p:txBody>
      </p:sp>
      <p:sp>
        <p:nvSpPr>
          <p:cNvPr id="4" name="Google Shape;799;p38">
            <a:extLst>
              <a:ext uri="{FF2B5EF4-FFF2-40B4-BE49-F238E27FC236}">
                <a16:creationId xmlns:a16="http://schemas.microsoft.com/office/drawing/2014/main" id="{2F047CC8-794E-EC2B-8548-E6AA860C8A13}"/>
              </a:ext>
            </a:extLst>
          </p:cNvPr>
          <p:cNvSpPr txBox="1">
            <a:spLocks/>
          </p:cNvSpPr>
          <p:nvPr/>
        </p:nvSpPr>
        <p:spPr>
          <a:xfrm>
            <a:off x="1087069" y="1119528"/>
            <a:ext cx="7501760" cy="368829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GB" sz="1800" dirty="0">
                <a:solidFill>
                  <a:schemeClr val="accent2">
                    <a:lumMod val="60000"/>
                    <a:lumOff val="40000"/>
                  </a:schemeClr>
                </a:solidFill>
                <a:latin typeface="Fira Code" panose="020B0809050000020004" pitchFamily="49" charset="0"/>
                <a:ea typeface="Fira Code" panose="020B0809050000020004" pitchFamily="49" charset="0"/>
                <a:cs typeface="Fira Code" panose="020B0809050000020004" pitchFamily="49" charset="0"/>
                <a:sym typeface="Fira Code"/>
              </a:rPr>
              <a:t># </a:t>
            </a:r>
            <a:r>
              <a:rPr lang="en-US" altLang="zh-TW" sz="1800" dirty="0">
                <a:solidFill>
                  <a:schemeClr val="accent2">
                    <a:lumMod val="60000"/>
                    <a:lumOff val="40000"/>
                  </a:schemeClr>
                </a:solidFill>
                <a:latin typeface="Fira Code" panose="020B0809050000020004" pitchFamily="49" charset="0"/>
                <a:ea typeface="Fira Code" panose="020B0809050000020004" pitchFamily="49" charset="0"/>
                <a:cs typeface="Fira Code" panose="020B0809050000020004" pitchFamily="49" charset="0"/>
                <a:sym typeface="Fira Code"/>
              </a:rPr>
              <a:t>Process</a:t>
            </a:r>
          </a:p>
          <a:p>
            <a:endParaRPr lang="en-US" altLang="zh-TW" sz="1600" dirty="0">
              <a:solidFill>
                <a:schemeClr val="accent2">
                  <a:lumMod val="60000"/>
                  <a:lumOff val="40000"/>
                </a:schemeClr>
              </a:solidFill>
              <a:latin typeface="Fira Code" panose="020B0809050000020004" pitchFamily="49" charset="0"/>
              <a:ea typeface="Fira Code" panose="020B0809050000020004" pitchFamily="49" charset="0"/>
              <a:cs typeface="Fira Code" panose="020B0809050000020004" pitchFamily="49" charset="0"/>
              <a:sym typeface="Fira Code"/>
            </a:endParaRPr>
          </a:p>
          <a:p>
            <a:pPr>
              <a:buClr>
                <a:schemeClr val="accent3"/>
              </a:buClr>
              <a:buSzPts val="1400"/>
            </a:pPr>
            <a:r>
              <a:rPr lang="en-US" altLang="zh-TW" sz="1600" dirty="0">
                <a:solidFill>
                  <a:schemeClr val="accent6"/>
                </a:solidFill>
                <a:latin typeface="Raleway"/>
                <a:ea typeface="Fira Code"/>
                <a:sym typeface="Fira Code"/>
              </a:rPr>
              <a:t>	Implemented linear regression, </a:t>
            </a:r>
            <a:r>
              <a:rPr lang="en-US" altLang="zh-TW" sz="1600" dirty="0" err="1">
                <a:solidFill>
                  <a:schemeClr val="accent6"/>
                </a:solidFill>
                <a:latin typeface="Raleway"/>
                <a:ea typeface="Fira Code"/>
                <a:sym typeface="Fira Code"/>
              </a:rPr>
              <a:t>XGBoost</a:t>
            </a:r>
            <a:r>
              <a:rPr lang="en-US" altLang="zh-TW" sz="1600" dirty="0">
                <a:solidFill>
                  <a:schemeClr val="accent6"/>
                </a:solidFill>
                <a:latin typeface="Raleway"/>
                <a:ea typeface="Fira Code"/>
                <a:sym typeface="Fira Code"/>
              </a:rPr>
              <a:t>, </a:t>
            </a:r>
            <a:r>
              <a:rPr lang="en-US" altLang="zh-TW" sz="1600" dirty="0" err="1">
                <a:solidFill>
                  <a:schemeClr val="accent6"/>
                </a:solidFill>
                <a:latin typeface="Raleway"/>
                <a:ea typeface="Fira Code"/>
                <a:sym typeface="Fira Code"/>
              </a:rPr>
              <a:t>LightGBM</a:t>
            </a:r>
            <a:r>
              <a:rPr lang="en-US" altLang="zh-TW" sz="1600" dirty="0">
                <a:solidFill>
                  <a:schemeClr val="accent6"/>
                </a:solidFill>
                <a:latin typeface="Raleway"/>
                <a:ea typeface="Fira Code"/>
                <a:sym typeface="Fira Code"/>
              </a:rPr>
              <a:t>, Random Forest </a:t>
            </a:r>
          </a:p>
          <a:p>
            <a:pPr>
              <a:buClr>
                <a:schemeClr val="accent3"/>
              </a:buClr>
              <a:buSzPts val="1400"/>
            </a:pPr>
            <a:r>
              <a:rPr lang="en-US" altLang="zh-TW" sz="1600" dirty="0">
                <a:solidFill>
                  <a:schemeClr val="accent6"/>
                </a:solidFill>
                <a:latin typeface="Raleway"/>
                <a:ea typeface="Fira Code"/>
                <a:sym typeface="Fira Code"/>
              </a:rPr>
              <a:t>                 and MLP models</a:t>
            </a:r>
          </a:p>
          <a:p>
            <a:pPr>
              <a:buClr>
                <a:schemeClr val="accent3"/>
              </a:buClr>
              <a:buSzPts val="1400"/>
            </a:pPr>
            <a:endParaRPr lang="en-US" altLang="zh-TW" sz="1600" dirty="0">
              <a:solidFill>
                <a:schemeClr val="accent6"/>
              </a:solidFill>
              <a:latin typeface="Raleway"/>
              <a:ea typeface="Fira Code"/>
              <a:sym typeface="Fira Code"/>
            </a:endParaRPr>
          </a:p>
          <a:p>
            <a:pPr>
              <a:buClr>
                <a:schemeClr val="accent3"/>
              </a:buClr>
              <a:buSzPts val="1400"/>
            </a:pPr>
            <a:r>
              <a:rPr lang="en-US" altLang="zh-TW" sz="1600" dirty="0">
                <a:solidFill>
                  <a:schemeClr val="accent6"/>
                </a:solidFill>
                <a:latin typeface="Raleway"/>
                <a:ea typeface="Fira Code"/>
                <a:sym typeface="Fira Code"/>
              </a:rPr>
              <a:t>	Applied these models for all the store product combinations</a:t>
            </a:r>
          </a:p>
          <a:p>
            <a:pPr>
              <a:buClr>
                <a:schemeClr val="accent3"/>
              </a:buClr>
              <a:buSzPts val="1400"/>
            </a:pPr>
            <a:endParaRPr lang="en-US" altLang="zh-TW" sz="1600" dirty="0">
              <a:solidFill>
                <a:schemeClr val="accent6"/>
              </a:solidFill>
              <a:latin typeface="Raleway"/>
              <a:ea typeface="Fira Code"/>
              <a:sym typeface="Fira Code"/>
            </a:endParaRPr>
          </a:p>
          <a:p>
            <a:pPr>
              <a:buClr>
                <a:schemeClr val="accent3"/>
              </a:buClr>
              <a:buSzPts val="1400"/>
            </a:pPr>
            <a:r>
              <a:rPr lang="en-US" altLang="zh-TW" sz="1600" dirty="0">
                <a:solidFill>
                  <a:schemeClr val="accent6"/>
                </a:solidFill>
                <a:latin typeface="Raleway"/>
                <a:ea typeface="Fira Code"/>
                <a:sym typeface="Fira Code"/>
              </a:rPr>
              <a:t>	Calculated MAE value for each model </a:t>
            </a:r>
          </a:p>
          <a:p>
            <a:pPr>
              <a:buClr>
                <a:schemeClr val="accent3"/>
              </a:buClr>
              <a:buSzPts val="1400"/>
            </a:pPr>
            <a:endParaRPr lang="en-US" altLang="zh-TW" sz="1600" dirty="0">
              <a:solidFill>
                <a:schemeClr val="accent6"/>
              </a:solidFill>
              <a:latin typeface="Raleway"/>
              <a:ea typeface="Fira Code"/>
              <a:sym typeface="Fira Code"/>
            </a:endParaRPr>
          </a:p>
          <a:p>
            <a:pPr>
              <a:buClr>
                <a:schemeClr val="accent3"/>
              </a:buClr>
              <a:buSzPts val="1400"/>
            </a:pPr>
            <a:r>
              <a:rPr lang="en-US" altLang="zh-TW" sz="1600" dirty="0">
                <a:solidFill>
                  <a:schemeClr val="accent6"/>
                </a:solidFill>
                <a:latin typeface="Raleway"/>
                <a:ea typeface="Fira Code"/>
                <a:sym typeface="Fira Code"/>
              </a:rPr>
              <a:t>	Selected model with the least MAE values for each combination </a:t>
            </a:r>
          </a:p>
          <a:p>
            <a:pPr>
              <a:buClr>
                <a:schemeClr val="accent3"/>
              </a:buClr>
              <a:buSzPts val="1400"/>
            </a:pPr>
            <a:r>
              <a:rPr lang="en-US" altLang="zh-TW" sz="1600" dirty="0">
                <a:solidFill>
                  <a:schemeClr val="accent6"/>
                </a:solidFill>
                <a:latin typeface="Raleway"/>
                <a:ea typeface="Fira Code"/>
                <a:sym typeface="Fira Code"/>
              </a:rPr>
              <a:t>                 and stored it in a data frame for representation.</a:t>
            </a:r>
          </a:p>
          <a:p>
            <a:pPr>
              <a:lnSpc>
                <a:spcPct val="150000"/>
              </a:lnSpc>
            </a:pPr>
            <a:endParaRPr lang="en-US" altLang="zh-TW" sz="1800" dirty="0">
              <a:solidFill>
                <a:schemeClr val="accent2">
                  <a:lumMod val="60000"/>
                  <a:lumOff val="40000"/>
                </a:schemeClr>
              </a:solidFill>
            </a:endParaRPr>
          </a:p>
          <a:p>
            <a:pPr>
              <a:lnSpc>
                <a:spcPct val="150000"/>
              </a:lnSpc>
            </a:pPr>
            <a:r>
              <a:rPr lang="en-US" altLang="zh-TW" sz="1600" dirty="0">
                <a:latin typeface="Raleway"/>
              </a:rPr>
              <a:t>     </a:t>
            </a:r>
          </a:p>
        </p:txBody>
      </p:sp>
      <p:sp>
        <p:nvSpPr>
          <p:cNvPr id="5" name="Google Shape;776;p36">
            <a:extLst>
              <a:ext uri="{FF2B5EF4-FFF2-40B4-BE49-F238E27FC236}">
                <a16:creationId xmlns:a16="http://schemas.microsoft.com/office/drawing/2014/main" id="{08FE4C9B-95DA-6BDC-5E79-447A838DBD85}"/>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Model Selection</a:t>
            </a:r>
          </a:p>
        </p:txBody>
      </p:sp>
    </p:spTree>
    <p:extLst>
      <p:ext uri="{BB962C8B-B14F-4D97-AF65-F5344CB8AC3E}">
        <p14:creationId xmlns:p14="http://schemas.microsoft.com/office/powerpoint/2010/main" val="1504481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14" name="矩形 13">
            <a:extLst>
              <a:ext uri="{FF2B5EF4-FFF2-40B4-BE49-F238E27FC236}">
                <a16:creationId xmlns:a16="http://schemas.microsoft.com/office/drawing/2014/main" id="{8B25885F-8DE4-9B04-A219-918DDF9BE351}"/>
              </a:ext>
            </a:extLst>
          </p:cNvPr>
          <p:cNvSpPr/>
          <p:nvPr/>
        </p:nvSpPr>
        <p:spPr>
          <a:xfrm rot="16200000">
            <a:off x="-1292979" y="2400865"/>
            <a:ext cx="4229133"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D5D9407-BA55-BC09-03DE-2A4FB280487E}"/>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FAED8ED9-BE2E-139E-5860-A69546E1DC18}"/>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18</a:t>
            </a:r>
            <a:endParaRPr lang="zh-TW" altLang="en-US" sz="1300" dirty="0">
              <a:solidFill>
                <a:schemeClr val="accent3"/>
              </a:solidFill>
              <a:latin typeface="Fira Code"/>
              <a:cs typeface="Fira Code"/>
              <a:sym typeface="Fira Code"/>
            </a:endParaRPr>
          </a:p>
        </p:txBody>
      </p:sp>
      <p:sp>
        <p:nvSpPr>
          <p:cNvPr id="8" name="Google Shape;776;p36">
            <a:extLst>
              <a:ext uri="{FF2B5EF4-FFF2-40B4-BE49-F238E27FC236}">
                <a16:creationId xmlns:a16="http://schemas.microsoft.com/office/drawing/2014/main" id="{95ABF9E1-2C0F-0861-3E5D-18665586B13A}"/>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Results</a:t>
            </a:r>
          </a:p>
        </p:txBody>
      </p:sp>
      <p:sp>
        <p:nvSpPr>
          <p:cNvPr id="13" name="Google Shape;803;p38">
            <a:extLst>
              <a:ext uri="{FF2B5EF4-FFF2-40B4-BE49-F238E27FC236}">
                <a16:creationId xmlns:a16="http://schemas.microsoft.com/office/drawing/2014/main" id="{E7E2319D-0524-A283-593B-0CD1A4F39DC1}"/>
              </a:ext>
            </a:extLst>
          </p:cNvPr>
          <p:cNvSpPr txBox="1">
            <a:spLocks/>
          </p:cNvSpPr>
          <p:nvPr/>
        </p:nvSpPr>
        <p:spPr>
          <a:xfrm>
            <a:off x="1122975" y="649462"/>
            <a:ext cx="5106000"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US" sz="2000" dirty="0">
                <a:solidFill>
                  <a:schemeClr val="accent2"/>
                </a:solidFill>
              </a:rPr>
              <a:t>Number of Model selection</a:t>
            </a:r>
            <a:endParaRPr lang="en-GB" sz="2000" dirty="0">
              <a:solidFill>
                <a:schemeClr val="accent2"/>
              </a:solidFill>
            </a:endParaRPr>
          </a:p>
        </p:txBody>
      </p:sp>
      <p:pic>
        <p:nvPicPr>
          <p:cNvPr id="4" name="圖片 3" descr="一張含有 文字, 螢幕擷取畫面, Rectangle, 圖表 的圖片&#10;&#10;自動產生的描述">
            <a:extLst>
              <a:ext uri="{FF2B5EF4-FFF2-40B4-BE49-F238E27FC236}">
                <a16:creationId xmlns:a16="http://schemas.microsoft.com/office/drawing/2014/main" id="{794E81BA-51BD-1AC0-35A4-83306AFC03F7}"/>
              </a:ext>
            </a:extLst>
          </p:cNvPr>
          <p:cNvPicPr>
            <a:picLocks noChangeAspect="1"/>
          </p:cNvPicPr>
          <p:nvPr/>
        </p:nvPicPr>
        <p:blipFill>
          <a:blip r:embed="rId3"/>
          <a:stretch>
            <a:fillRect/>
          </a:stretch>
        </p:blipFill>
        <p:spPr>
          <a:xfrm>
            <a:off x="-5975" y="1210973"/>
            <a:ext cx="9144000" cy="3537585"/>
          </a:xfrm>
          <a:prstGeom prst="rect">
            <a:avLst/>
          </a:prstGeom>
        </p:spPr>
      </p:pic>
      <p:sp>
        <p:nvSpPr>
          <p:cNvPr id="3" name="Google Shape;776;p36">
            <a:extLst>
              <a:ext uri="{FF2B5EF4-FFF2-40B4-BE49-F238E27FC236}">
                <a16:creationId xmlns:a16="http://schemas.microsoft.com/office/drawing/2014/main" id="{B8093B2D-D239-7390-9B83-95E59D570927}"/>
              </a:ext>
            </a:extLst>
          </p:cNvPr>
          <p:cNvSpPr txBox="1">
            <a:spLocks/>
          </p:cNvSpPr>
          <p:nvPr/>
        </p:nvSpPr>
        <p:spPr>
          <a:xfrm>
            <a:off x="4577977" y="86929"/>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spTree>
    <p:extLst>
      <p:ext uri="{BB962C8B-B14F-4D97-AF65-F5344CB8AC3E}">
        <p14:creationId xmlns:p14="http://schemas.microsoft.com/office/powerpoint/2010/main" val="2422958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7" name="矩形 6">
            <a:extLst>
              <a:ext uri="{FF2B5EF4-FFF2-40B4-BE49-F238E27FC236}">
                <a16:creationId xmlns:a16="http://schemas.microsoft.com/office/drawing/2014/main" id="{783EF111-C2E2-481A-69C2-9427E61E71DB}"/>
              </a:ext>
            </a:extLst>
          </p:cNvPr>
          <p:cNvSpPr/>
          <p:nvPr/>
        </p:nvSpPr>
        <p:spPr>
          <a:xfrm rot="16200000">
            <a:off x="-1292979" y="2400865"/>
            <a:ext cx="4229133"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F9E25421-12B8-028E-EEE5-12387FC3198D}"/>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FAED8ED9-BE2E-139E-5860-A69546E1DC18}"/>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cs typeface="Fira Code"/>
                <a:sym typeface="Fira Code"/>
              </a:rPr>
              <a:t>19</a:t>
            </a:r>
            <a:endParaRPr lang="zh-TW" altLang="en-US" sz="1300" dirty="0">
              <a:solidFill>
                <a:schemeClr val="accent3"/>
              </a:solidFill>
              <a:latin typeface="Fira Code"/>
              <a:cs typeface="Fira Code"/>
              <a:sym typeface="Fira Code"/>
            </a:endParaRPr>
          </a:p>
        </p:txBody>
      </p:sp>
      <p:sp>
        <p:nvSpPr>
          <p:cNvPr id="13" name="Google Shape;803;p38">
            <a:extLst>
              <a:ext uri="{FF2B5EF4-FFF2-40B4-BE49-F238E27FC236}">
                <a16:creationId xmlns:a16="http://schemas.microsoft.com/office/drawing/2014/main" id="{E7E2319D-0524-A283-593B-0CD1A4F39DC1}"/>
              </a:ext>
            </a:extLst>
          </p:cNvPr>
          <p:cNvSpPr txBox="1">
            <a:spLocks/>
          </p:cNvSpPr>
          <p:nvPr/>
        </p:nvSpPr>
        <p:spPr>
          <a:xfrm>
            <a:off x="641283" y="649462"/>
            <a:ext cx="8086339"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GB" sz="2000" dirty="0">
                <a:solidFill>
                  <a:schemeClr val="accent2"/>
                </a:solidFill>
              </a:rPr>
              <a:t>Boxplot of Average Sales Unit for Different Models</a:t>
            </a:r>
          </a:p>
        </p:txBody>
      </p:sp>
      <p:pic>
        <p:nvPicPr>
          <p:cNvPr id="4" name="圖片 3" descr="一張含有 文字, 圖表, 螢幕擷取畫面, Rectangle 的圖片&#10;&#10;自動產生的描述">
            <a:extLst>
              <a:ext uri="{FF2B5EF4-FFF2-40B4-BE49-F238E27FC236}">
                <a16:creationId xmlns:a16="http://schemas.microsoft.com/office/drawing/2014/main" id="{F2EB5766-2CF6-6404-C2CC-E6DDDCBC0057}"/>
              </a:ext>
            </a:extLst>
          </p:cNvPr>
          <p:cNvPicPr>
            <a:picLocks noChangeAspect="1"/>
          </p:cNvPicPr>
          <p:nvPr/>
        </p:nvPicPr>
        <p:blipFill>
          <a:blip r:embed="rId3"/>
          <a:stretch>
            <a:fillRect/>
          </a:stretch>
        </p:blipFill>
        <p:spPr>
          <a:xfrm>
            <a:off x="0" y="1225999"/>
            <a:ext cx="9144000" cy="3383280"/>
          </a:xfrm>
          <a:prstGeom prst="rect">
            <a:avLst/>
          </a:prstGeom>
        </p:spPr>
      </p:pic>
      <p:sp>
        <p:nvSpPr>
          <p:cNvPr id="10" name="Google Shape;776;p36">
            <a:extLst>
              <a:ext uri="{FF2B5EF4-FFF2-40B4-BE49-F238E27FC236}">
                <a16:creationId xmlns:a16="http://schemas.microsoft.com/office/drawing/2014/main" id="{8382E1B1-37E8-7307-1885-AAE01AC987E8}"/>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Results</a:t>
            </a:r>
          </a:p>
        </p:txBody>
      </p:sp>
      <p:sp>
        <p:nvSpPr>
          <p:cNvPr id="3" name="Google Shape;776;p36">
            <a:extLst>
              <a:ext uri="{FF2B5EF4-FFF2-40B4-BE49-F238E27FC236}">
                <a16:creationId xmlns:a16="http://schemas.microsoft.com/office/drawing/2014/main" id="{35F48B46-B612-570E-A0C7-88D1268311A2}"/>
              </a:ext>
            </a:extLst>
          </p:cNvPr>
          <p:cNvSpPr txBox="1">
            <a:spLocks/>
          </p:cNvSpPr>
          <p:nvPr/>
        </p:nvSpPr>
        <p:spPr>
          <a:xfrm>
            <a:off x="4577977" y="86929"/>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spTree>
    <p:extLst>
      <p:ext uri="{BB962C8B-B14F-4D97-AF65-F5344CB8AC3E}">
        <p14:creationId xmlns:p14="http://schemas.microsoft.com/office/powerpoint/2010/main" val="1794664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7" name="矩形 6">
            <a:extLst>
              <a:ext uri="{FF2B5EF4-FFF2-40B4-BE49-F238E27FC236}">
                <a16:creationId xmlns:a16="http://schemas.microsoft.com/office/drawing/2014/main" id="{783EF111-C2E2-481A-69C2-9427E61E71DB}"/>
              </a:ext>
            </a:extLst>
          </p:cNvPr>
          <p:cNvSpPr/>
          <p:nvPr/>
        </p:nvSpPr>
        <p:spPr>
          <a:xfrm rot="16200000">
            <a:off x="-1292979" y="2400865"/>
            <a:ext cx="4229133"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F9E25421-12B8-028E-EEE5-12387FC3198D}"/>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FAED8ED9-BE2E-139E-5860-A69546E1DC18}"/>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20</a:t>
            </a:r>
            <a:endParaRPr lang="zh-TW" altLang="en-US" sz="1300" dirty="0">
              <a:solidFill>
                <a:schemeClr val="accent3"/>
              </a:solidFill>
              <a:latin typeface="Fira Code"/>
              <a:cs typeface="Fira Code"/>
              <a:sym typeface="Fira Code"/>
            </a:endParaRPr>
          </a:p>
        </p:txBody>
      </p:sp>
      <p:sp>
        <p:nvSpPr>
          <p:cNvPr id="13" name="Google Shape;803;p38">
            <a:extLst>
              <a:ext uri="{FF2B5EF4-FFF2-40B4-BE49-F238E27FC236}">
                <a16:creationId xmlns:a16="http://schemas.microsoft.com/office/drawing/2014/main" id="{E7E2319D-0524-A283-593B-0CD1A4F39DC1}"/>
              </a:ext>
            </a:extLst>
          </p:cNvPr>
          <p:cNvSpPr txBox="1">
            <a:spLocks/>
          </p:cNvSpPr>
          <p:nvPr/>
        </p:nvSpPr>
        <p:spPr>
          <a:xfrm>
            <a:off x="641283" y="649462"/>
            <a:ext cx="8086339"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GB" sz="2000" dirty="0">
                <a:solidFill>
                  <a:schemeClr val="accent2"/>
                </a:solidFill>
              </a:rPr>
              <a:t>Boxplot of Sales Range for Different Models</a:t>
            </a:r>
          </a:p>
        </p:txBody>
      </p:sp>
      <p:pic>
        <p:nvPicPr>
          <p:cNvPr id="9" name="圖片 8" descr="一張含有 圖表, 螢幕擷取畫面, 文字, 繪圖 的圖片&#10;&#10;自動產生的描述">
            <a:extLst>
              <a:ext uri="{FF2B5EF4-FFF2-40B4-BE49-F238E27FC236}">
                <a16:creationId xmlns:a16="http://schemas.microsoft.com/office/drawing/2014/main" id="{CD517628-9330-B0B0-E36F-1800F702BEB5}"/>
              </a:ext>
            </a:extLst>
          </p:cNvPr>
          <p:cNvPicPr>
            <a:picLocks noChangeAspect="1"/>
          </p:cNvPicPr>
          <p:nvPr/>
        </p:nvPicPr>
        <p:blipFill>
          <a:blip r:embed="rId3"/>
          <a:stretch>
            <a:fillRect/>
          </a:stretch>
        </p:blipFill>
        <p:spPr>
          <a:xfrm>
            <a:off x="0" y="1340299"/>
            <a:ext cx="9144000" cy="3360420"/>
          </a:xfrm>
          <a:prstGeom prst="rect">
            <a:avLst/>
          </a:prstGeom>
        </p:spPr>
      </p:pic>
      <p:sp>
        <p:nvSpPr>
          <p:cNvPr id="10" name="Google Shape;776;p36">
            <a:extLst>
              <a:ext uri="{FF2B5EF4-FFF2-40B4-BE49-F238E27FC236}">
                <a16:creationId xmlns:a16="http://schemas.microsoft.com/office/drawing/2014/main" id="{3215B918-9131-1C74-038E-6A73B950E72C}"/>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Results</a:t>
            </a:r>
          </a:p>
        </p:txBody>
      </p:sp>
      <p:sp>
        <p:nvSpPr>
          <p:cNvPr id="3" name="Google Shape;776;p36">
            <a:extLst>
              <a:ext uri="{FF2B5EF4-FFF2-40B4-BE49-F238E27FC236}">
                <a16:creationId xmlns:a16="http://schemas.microsoft.com/office/drawing/2014/main" id="{A0E2E610-EF21-6AD5-19D1-FD6A49B69E45}"/>
              </a:ext>
            </a:extLst>
          </p:cNvPr>
          <p:cNvSpPr txBox="1">
            <a:spLocks/>
          </p:cNvSpPr>
          <p:nvPr/>
        </p:nvSpPr>
        <p:spPr>
          <a:xfrm>
            <a:off x="4577977" y="80434"/>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spTree>
    <p:extLst>
      <p:ext uri="{BB962C8B-B14F-4D97-AF65-F5344CB8AC3E}">
        <p14:creationId xmlns:p14="http://schemas.microsoft.com/office/powerpoint/2010/main" val="825733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14" name="矩形 13">
            <a:extLst>
              <a:ext uri="{FF2B5EF4-FFF2-40B4-BE49-F238E27FC236}">
                <a16:creationId xmlns:a16="http://schemas.microsoft.com/office/drawing/2014/main" id="{8B25885F-8DE4-9B04-A219-918DDF9BE351}"/>
              </a:ext>
            </a:extLst>
          </p:cNvPr>
          <p:cNvSpPr/>
          <p:nvPr/>
        </p:nvSpPr>
        <p:spPr>
          <a:xfrm rot="16200000">
            <a:off x="-1292979" y="2400865"/>
            <a:ext cx="4229133"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D5D9407-BA55-BC09-03DE-2A4FB280487E}"/>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FAED8ED9-BE2E-139E-5860-A69546E1DC18}"/>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21</a:t>
            </a:r>
            <a:endParaRPr lang="zh-TW" altLang="en-US" sz="1300" dirty="0">
              <a:solidFill>
                <a:schemeClr val="accent3"/>
              </a:solidFill>
              <a:latin typeface="Fira Code"/>
              <a:cs typeface="Fira Code"/>
              <a:sym typeface="Fira Code"/>
            </a:endParaRPr>
          </a:p>
        </p:txBody>
      </p:sp>
      <p:sp>
        <p:nvSpPr>
          <p:cNvPr id="8" name="Google Shape;776;p36">
            <a:extLst>
              <a:ext uri="{FF2B5EF4-FFF2-40B4-BE49-F238E27FC236}">
                <a16:creationId xmlns:a16="http://schemas.microsoft.com/office/drawing/2014/main" id="{95ABF9E1-2C0F-0861-3E5D-18665586B13A}"/>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Results</a:t>
            </a:r>
          </a:p>
        </p:txBody>
      </p:sp>
      <p:pic>
        <p:nvPicPr>
          <p:cNvPr id="12" name="圖片 11" descr="一張含有 文字, 螢幕擷取畫面, 行, 繪圖 的圖片&#10;&#10;自動產生的描述">
            <a:extLst>
              <a:ext uri="{FF2B5EF4-FFF2-40B4-BE49-F238E27FC236}">
                <a16:creationId xmlns:a16="http://schemas.microsoft.com/office/drawing/2014/main" id="{DFCA3B28-6A6B-722C-EF01-1A18EE2E18D1}"/>
              </a:ext>
            </a:extLst>
          </p:cNvPr>
          <p:cNvPicPr>
            <a:picLocks noChangeAspect="1"/>
          </p:cNvPicPr>
          <p:nvPr/>
        </p:nvPicPr>
        <p:blipFill rotWithShape="1">
          <a:blip r:embed="rId3"/>
          <a:srcRect t="4963" r="42143"/>
          <a:stretch/>
        </p:blipFill>
        <p:spPr>
          <a:xfrm>
            <a:off x="978815" y="1139662"/>
            <a:ext cx="7517607" cy="3843493"/>
          </a:xfrm>
          <a:prstGeom prst="rect">
            <a:avLst/>
          </a:prstGeom>
        </p:spPr>
      </p:pic>
      <p:sp>
        <p:nvSpPr>
          <p:cNvPr id="13" name="Google Shape;803;p38">
            <a:extLst>
              <a:ext uri="{FF2B5EF4-FFF2-40B4-BE49-F238E27FC236}">
                <a16:creationId xmlns:a16="http://schemas.microsoft.com/office/drawing/2014/main" id="{E7E2319D-0524-A283-593B-0CD1A4F39DC1}"/>
              </a:ext>
            </a:extLst>
          </p:cNvPr>
          <p:cNvSpPr txBox="1">
            <a:spLocks/>
          </p:cNvSpPr>
          <p:nvPr/>
        </p:nvSpPr>
        <p:spPr>
          <a:xfrm>
            <a:off x="1122975" y="649462"/>
            <a:ext cx="5106000"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GB" sz="2000" dirty="0">
                <a:solidFill>
                  <a:schemeClr val="accent2"/>
                </a:solidFill>
              </a:rPr>
              <a:t>Distribution of MAE</a:t>
            </a:r>
          </a:p>
        </p:txBody>
      </p:sp>
      <p:sp>
        <p:nvSpPr>
          <p:cNvPr id="4" name="Google Shape;776;p36">
            <a:extLst>
              <a:ext uri="{FF2B5EF4-FFF2-40B4-BE49-F238E27FC236}">
                <a16:creationId xmlns:a16="http://schemas.microsoft.com/office/drawing/2014/main" id="{052B7F58-E667-DA9B-4125-7D687A25B6A9}"/>
              </a:ext>
            </a:extLst>
          </p:cNvPr>
          <p:cNvSpPr txBox="1">
            <a:spLocks/>
          </p:cNvSpPr>
          <p:nvPr/>
        </p:nvSpPr>
        <p:spPr>
          <a:xfrm>
            <a:off x="4577977" y="86929"/>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6" name="矩形 5">
            <a:extLst>
              <a:ext uri="{FF2B5EF4-FFF2-40B4-BE49-F238E27FC236}">
                <a16:creationId xmlns:a16="http://schemas.microsoft.com/office/drawing/2014/main" id="{FD467772-F4C0-EC89-BFC0-DCD0484267EF}"/>
              </a:ext>
            </a:extLst>
          </p:cNvPr>
          <p:cNvSpPr/>
          <p:nvPr/>
        </p:nvSpPr>
        <p:spPr>
          <a:xfrm rot="16200000">
            <a:off x="-1292979" y="2400865"/>
            <a:ext cx="4229133"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E4A299CD-00D8-DCA1-7F09-9CA4FF90E93A}"/>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FAED8ED9-BE2E-139E-5860-A69546E1DC18}"/>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22</a:t>
            </a:r>
            <a:endParaRPr lang="zh-TW" altLang="en-US" sz="1300" dirty="0">
              <a:solidFill>
                <a:schemeClr val="accent3"/>
              </a:solidFill>
              <a:latin typeface="Fira Code"/>
              <a:cs typeface="Fira Code"/>
              <a:sym typeface="Fira Code"/>
            </a:endParaRPr>
          </a:p>
        </p:txBody>
      </p:sp>
      <p:sp>
        <p:nvSpPr>
          <p:cNvPr id="13" name="Google Shape;803;p38">
            <a:extLst>
              <a:ext uri="{FF2B5EF4-FFF2-40B4-BE49-F238E27FC236}">
                <a16:creationId xmlns:a16="http://schemas.microsoft.com/office/drawing/2014/main" id="{E7E2319D-0524-A283-593B-0CD1A4F39DC1}"/>
              </a:ext>
            </a:extLst>
          </p:cNvPr>
          <p:cNvSpPr txBox="1">
            <a:spLocks/>
          </p:cNvSpPr>
          <p:nvPr/>
        </p:nvSpPr>
        <p:spPr>
          <a:xfrm>
            <a:off x="1122975" y="649462"/>
            <a:ext cx="5106000"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GB" sz="2000" dirty="0">
                <a:solidFill>
                  <a:schemeClr val="accent2"/>
                </a:solidFill>
              </a:rPr>
              <a:t>Average Relative MAE per Model</a:t>
            </a:r>
          </a:p>
        </p:txBody>
      </p:sp>
      <p:pic>
        <p:nvPicPr>
          <p:cNvPr id="4" name="圖片 3" descr="一張含有 文字, 螢幕擷取畫面, 繪圖, Rectangle 的圖片&#10;&#10;自動產生的描述">
            <a:extLst>
              <a:ext uri="{FF2B5EF4-FFF2-40B4-BE49-F238E27FC236}">
                <a16:creationId xmlns:a16="http://schemas.microsoft.com/office/drawing/2014/main" id="{D56107F1-310D-29F4-49F6-0E315B82124F}"/>
              </a:ext>
            </a:extLst>
          </p:cNvPr>
          <p:cNvPicPr>
            <a:picLocks noChangeAspect="1"/>
          </p:cNvPicPr>
          <p:nvPr/>
        </p:nvPicPr>
        <p:blipFill>
          <a:blip r:embed="rId3"/>
          <a:stretch>
            <a:fillRect/>
          </a:stretch>
        </p:blipFill>
        <p:spPr>
          <a:xfrm>
            <a:off x="0" y="1168981"/>
            <a:ext cx="9144000" cy="3549015"/>
          </a:xfrm>
          <a:prstGeom prst="rect">
            <a:avLst/>
          </a:prstGeom>
        </p:spPr>
      </p:pic>
      <p:sp>
        <p:nvSpPr>
          <p:cNvPr id="9" name="Google Shape;776;p36">
            <a:extLst>
              <a:ext uri="{FF2B5EF4-FFF2-40B4-BE49-F238E27FC236}">
                <a16:creationId xmlns:a16="http://schemas.microsoft.com/office/drawing/2014/main" id="{B22719F8-1882-70DB-163A-9C76AD52F4E2}"/>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Results</a:t>
            </a:r>
          </a:p>
        </p:txBody>
      </p:sp>
      <p:sp>
        <p:nvSpPr>
          <p:cNvPr id="3" name="Google Shape;776;p36">
            <a:extLst>
              <a:ext uri="{FF2B5EF4-FFF2-40B4-BE49-F238E27FC236}">
                <a16:creationId xmlns:a16="http://schemas.microsoft.com/office/drawing/2014/main" id="{0D267009-A620-B920-C268-362E2FEBFE69}"/>
              </a:ext>
            </a:extLst>
          </p:cNvPr>
          <p:cNvSpPr txBox="1">
            <a:spLocks/>
          </p:cNvSpPr>
          <p:nvPr/>
        </p:nvSpPr>
        <p:spPr>
          <a:xfrm>
            <a:off x="4566025" y="68204"/>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spTree>
    <p:extLst>
      <p:ext uri="{BB962C8B-B14F-4D97-AF65-F5344CB8AC3E}">
        <p14:creationId xmlns:p14="http://schemas.microsoft.com/office/powerpoint/2010/main" val="3801697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6" name="矩形 5">
            <a:extLst>
              <a:ext uri="{FF2B5EF4-FFF2-40B4-BE49-F238E27FC236}">
                <a16:creationId xmlns:a16="http://schemas.microsoft.com/office/drawing/2014/main" id="{FD467772-F4C0-EC89-BFC0-DCD0484267EF}"/>
              </a:ext>
            </a:extLst>
          </p:cNvPr>
          <p:cNvSpPr/>
          <p:nvPr/>
        </p:nvSpPr>
        <p:spPr>
          <a:xfrm rot="16200000">
            <a:off x="-1292979" y="2400865"/>
            <a:ext cx="4229133"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E4A299CD-00D8-DCA1-7F09-9CA4FF90E93A}"/>
              </a:ext>
            </a:extLst>
          </p:cNvPr>
          <p:cNvSpPr/>
          <p:nvPr/>
        </p:nvSpPr>
        <p:spPr>
          <a:xfrm>
            <a:off x="0" y="4472143"/>
            <a:ext cx="9144000"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a:extLst>
              <a:ext uri="{FF2B5EF4-FFF2-40B4-BE49-F238E27FC236}">
                <a16:creationId xmlns:a16="http://schemas.microsoft.com/office/drawing/2014/main" id="{FAED8ED9-BE2E-139E-5860-A69546E1DC18}"/>
              </a:ext>
            </a:extLst>
          </p:cNvPr>
          <p:cNvSpPr txBox="1"/>
          <p:nvPr/>
        </p:nvSpPr>
        <p:spPr>
          <a:xfrm>
            <a:off x="8760562" y="4851110"/>
            <a:ext cx="383438" cy="292388"/>
          </a:xfrm>
          <a:prstGeom prst="rect">
            <a:avLst/>
          </a:prstGeom>
          <a:noFill/>
        </p:spPr>
        <p:txBody>
          <a:bodyPr wrap="none" rtlCol="0">
            <a:spAutoFit/>
          </a:bodyPr>
          <a:lstStyle/>
          <a:p>
            <a:r>
              <a:rPr lang="en-US" altLang="zh-TW" sz="1300" dirty="0">
                <a:solidFill>
                  <a:schemeClr val="accent3"/>
                </a:solidFill>
                <a:latin typeface="Fira Code"/>
                <a:ea typeface="Fira Code"/>
                <a:cs typeface="Fira Code"/>
                <a:sym typeface="Fira Code"/>
              </a:rPr>
              <a:t>23</a:t>
            </a:r>
            <a:endParaRPr lang="zh-TW" altLang="en-US" sz="1300" dirty="0">
              <a:solidFill>
                <a:schemeClr val="accent3"/>
              </a:solidFill>
              <a:latin typeface="Fira Code"/>
              <a:cs typeface="Fira Code"/>
              <a:sym typeface="Fira Code"/>
            </a:endParaRPr>
          </a:p>
        </p:txBody>
      </p:sp>
      <p:sp>
        <p:nvSpPr>
          <p:cNvPr id="13" name="Google Shape;803;p38">
            <a:extLst>
              <a:ext uri="{FF2B5EF4-FFF2-40B4-BE49-F238E27FC236}">
                <a16:creationId xmlns:a16="http://schemas.microsoft.com/office/drawing/2014/main" id="{E7E2319D-0524-A283-593B-0CD1A4F39DC1}"/>
              </a:ext>
            </a:extLst>
          </p:cNvPr>
          <p:cNvSpPr txBox="1">
            <a:spLocks/>
          </p:cNvSpPr>
          <p:nvPr/>
        </p:nvSpPr>
        <p:spPr>
          <a:xfrm>
            <a:off x="1122975" y="649462"/>
            <a:ext cx="5106000" cy="490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accent3"/>
              </a:buClr>
              <a:buSzPts val="1400"/>
              <a:buFont typeface="Fira Code"/>
              <a:buNone/>
              <a:defRPr sz="1400" b="0" i="0" u="none" strike="noStrike" cap="none">
                <a:solidFill>
                  <a:schemeClr val="accent3"/>
                </a:solidFill>
                <a:latin typeface="Fira Code"/>
                <a:ea typeface="Fira Code"/>
                <a:cs typeface="Fira Code"/>
                <a:sym typeface="Fira Code"/>
              </a:defRPr>
            </a:lvl9pPr>
          </a:lstStyle>
          <a:p>
            <a:pPr marL="0" indent="0"/>
            <a:r>
              <a:rPr lang="en-GB" sz="2000" dirty="0">
                <a:solidFill>
                  <a:schemeClr val="accent2"/>
                </a:solidFill>
              </a:rPr>
              <a:t>Average Relative MAE per Model</a:t>
            </a:r>
          </a:p>
        </p:txBody>
      </p:sp>
      <p:sp>
        <p:nvSpPr>
          <p:cNvPr id="9" name="Google Shape;776;p36">
            <a:extLst>
              <a:ext uri="{FF2B5EF4-FFF2-40B4-BE49-F238E27FC236}">
                <a16:creationId xmlns:a16="http://schemas.microsoft.com/office/drawing/2014/main" id="{B22719F8-1882-70DB-163A-9C76AD52F4E2}"/>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GB" sz="1600" dirty="0">
                <a:solidFill>
                  <a:schemeClr val="accent3"/>
                </a:solidFill>
                <a:latin typeface="Fira Code"/>
                <a:ea typeface="Fira Code"/>
                <a:cs typeface="Fira Code"/>
                <a:sym typeface="Fira Code"/>
              </a:rPr>
              <a:t>Results</a:t>
            </a:r>
          </a:p>
        </p:txBody>
      </p:sp>
      <p:sp>
        <p:nvSpPr>
          <p:cNvPr id="3" name="Google Shape;776;p36">
            <a:extLst>
              <a:ext uri="{FF2B5EF4-FFF2-40B4-BE49-F238E27FC236}">
                <a16:creationId xmlns:a16="http://schemas.microsoft.com/office/drawing/2014/main" id="{0D267009-A620-B920-C268-362E2FEBFE69}"/>
              </a:ext>
            </a:extLst>
          </p:cNvPr>
          <p:cNvSpPr txBox="1">
            <a:spLocks/>
          </p:cNvSpPr>
          <p:nvPr/>
        </p:nvSpPr>
        <p:spPr>
          <a:xfrm>
            <a:off x="4566025" y="68204"/>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pic>
        <p:nvPicPr>
          <p:cNvPr id="8" name="圖片 7" descr="一張含有 文字, 螢幕擷取畫面, 陳列, 字型 的圖片&#10;&#10;自動產生的描述">
            <a:extLst>
              <a:ext uri="{FF2B5EF4-FFF2-40B4-BE49-F238E27FC236}">
                <a16:creationId xmlns:a16="http://schemas.microsoft.com/office/drawing/2014/main" id="{BAF5276D-2AE5-AF33-719A-8D8CCD6B7301}"/>
              </a:ext>
            </a:extLst>
          </p:cNvPr>
          <p:cNvPicPr>
            <a:picLocks noChangeAspect="1"/>
          </p:cNvPicPr>
          <p:nvPr/>
        </p:nvPicPr>
        <p:blipFill>
          <a:blip r:embed="rId3"/>
          <a:stretch>
            <a:fillRect/>
          </a:stretch>
        </p:blipFill>
        <p:spPr>
          <a:xfrm>
            <a:off x="1937125" y="1174460"/>
            <a:ext cx="5257800" cy="3676650"/>
          </a:xfrm>
          <a:prstGeom prst="rect">
            <a:avLst/>
          </a:prstGeom>
        </p:spPr>
      </p:pic>
    </p:spTree>
    <p:extLst>
      <p:ext uri="{BB962C8B-B14F-4D97-AF65-F5344CB8AC3E}">
        <p14:creationId xmlns:p14="http://schemas.microsoft.com/office/powerpoint/2010/main" val="17903025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7" name="矩形 6">
            <a:extLst>
              <a:ext uri="{FF2B5EF4-FFF2-40B4-BE49-F238E27FC236}">
                <a16:creationId xmlns:a16="http://schemas.microsoft.com/office/drawing/2014/main" id="{7154F0BA-3F10-CF18-590C-0A8D3CE3BCAE}"/>
              </a:ext>
            </a:extLst>
          </p:cNvPr>
          <p:cNvSpPr/>
          <p:nvPr/>
        </p:nvSpPr>
        <p:spPr>
          <a:xfrm rot="5400000">
            <a:off x="-1309258" y="1901833"/>
            <a:ext cx="4475022" cy="671356"/>
          </a:xfrm>
          <a:prstGeom prst="rect">
            <a:avLst/>
          </a:prstGeom>
          <a:solidFill>
            <a:srgbClr val="2E323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Google Shape;776;p36">
            <a:extLst>
              <a:ext uri="{FF2B5EF4-FFF2-40B4-BE49-F238E27FC236}">
                <a16:creationId xmlns:a16="http://schemas.microsoft.com/office/drawing/2014/main" id="{6394966B-8D33-C5DE-5F80-6258622065E1}"/>
              </a:ext>
            </a:extLst>
          </p:cNvPr>
          <p:cNvSpPr txBox="1">
            <a:spLocks/>
          </p:cNvSpPr>
          <p:nvPr/>
        </p:nvSpPr>
        <p:spPr>
          <a:xfrm>
            <a:off x="-5975" y="91525"/>
            <a:ext cx="4572000" cy="3573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accent3"/>
              </a:buClr>
              <a:buSzPts val="1400"/>
            </a:pPr>
            <a:r>
              <a:rPr lang="en-US" altLang="zh-TW" sz="1600" dirty="0">
                <a:solidFill>
                  <a:schemeClr val="accent3"/>
                </a:solidFill>
                <a:latin typeface="Fira Code"/>
                <a:ea typeface="Fira Code"/>
                <a:cs typeface="Fira Code"/>
                <a:sym typeface="Fira Code"/>
              </a:rPr>
              <a:t>References</a:t>
            </a:r>
            <a:endParaRPr lang="en-GB" sz="1600" dirty="0">
              <a:solidFill>
                <a:schemeClr val="accent3"/>
              </a:solidFill>
              <a:latin typeface="Fira Code"/>
              <a:ea typeface="Fira Code"/>
              <a:cs typeface="Fira Code"/>
              <a:sym typeface="Fira Code"/>
            </a:endParaRPr>
          </a:p>
        </p:txBody>
      </p:sp>
      <p:sp>
        <p:nvSpPr>
          <p:cNvPr id="6" name="Google Shape;776;p36">
            <a:extLst>
              <a:ext uri="{FF2B5EF4-FFF2-40B4-BE49-F238E27FC236}">
                <a16:creationId xmlns:a16="http://schemas.microsoft.com/office/drawing/2014/main" id="{95616833-21DC-25CF-8DFB-534E258689EE}"/>
              </a:ext>
            </a:extLst>
          </p:cNvPr>
          <p:cNvSpPr txBox="1">
            <a:spLocks/>
          </p:cNvSpPr>
          <p:nvPr/>
        </p:nvSpPr>
        <p:spPr>
          <a:xfrm>
            <a:off x="277091" y="825815"/>
            <a:ext cx="8686800" cy="334440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chemeClr val="accent3"/>
              </a:buClr>
              <a:buSzPts val="1400"/>
            </a:pP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Pophali</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P. (2023) 'Grocery Sales Prediction Using Time Series Forecasting ML Model'</a:t>
            </a:r>
          </a:p>
          <a:p>
            <a:pPr>
              <a:buClr>
                <a:schemeClr val="accent3"/>
              </a:buClr>
              <a:buSzPts val="1400"/>
            </a:pPr>
            <a:endPar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endParaRPr>
          </a:p>
          <a:p>
            <a:pPr>
              <a:buClr>
                <a:schemeClr val="accent3"/>
              </a:buClr>
              <a:buSzPts val="1400"/>
            </a:pP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Odegua</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R. (2020). “Applied Machine Learning for Supermarket Sales Prediction”</a:t>
            </a:r>
          </a:p>
          <a:p>
            <a:pPr>
              <a:buClr>
                <a:schemeClr val="accent3"/>
              </a:buClr>
              <a:buSzPts val="1400"/>
            </a:pPr>
            <a:endPar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endParaRPr>
          </a:p>
          <a:p>
            <a:pPr>
              <a:buClr>
                <a:schemeClr val="accent3"/>
              </a:buClr>
              <a:buSzPts val="1400"/>
            </a:pP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Chavali</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S. D. A., Bellamkonda, L., Chinta, D. P., </a:t>
            </a: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Devarapalli</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A., </a:t>
            </a: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Bathula</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S. N., and B. Sai Jyothi. (2023). “Supermarket Sales Prediction Using Machine Learning”</a:t>
            </a:r>
          </a:p>
          <a:p>
            <a:pPr>
              <a:buClr>
                <a:schemeClr val="accent3"/>
              </a:buClr>
              <a:buSzPts val="1400"/>
            </a:pPr>
            <a:endPar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endParaRPr>
          </a:p>
          <a:p>
            <a:pPr>
              <a:buClr>
                <a:schemeClr val="accent3"/>
              </a:buClr>
              <a:buSzPts val="1400"/>
            </a:pP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Kigo</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S.N., Omondi, E.O. and </a:t>
            </a:r>
            <a:r>
              <a:rPr lang="en-US" altLang="zh-TW" sz="1600" dirty="0" err="1">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Omolo</a:t>
            </a:r>
            <a:r>
              <a:rPr lang="en-US" altLang="zh-TW"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rPr>
              <a:t>, B.O. (2023) “Assessing predictive performance of supervised machine learning algorithms for a diamond pricing model”</a:t>
            </a:r>
            <a:endParaRPr lang="en-GB" sz="1600" dirty="0">
              <a:solidFill>
                <a:schemeClr val="accent3"/>
              </a:solidFill>
              <a:latin typeface="Calibri" panose="020F0502020204030204" pitchFamily="34" charset="0"/>
              <a:ea typeface="Calibri" panose="020F0502020204030204" pitchFamily="34" charset="0"/>
              <a:cs typeface="Calibri" panose="020F0502020204030204" pitchFamily="34" charset="0"/>
              <a:sym typeface="Fira Code"/>
            </a:endParaRPr>
          </a:p>
        </p:txBody>
      </p:sp>
      <p:sp>
        <p:nvSpPr>
          <p:cNvPr id="4" name="Google Shape;629;p33">
            <a:extLst>
              <a:ext uri="{FF2B5EF4-FFF2-40B4-BE49-F238E27FC236}">
                <a16:creationId xmlns:a16="http://schemas.microsoft.com/office/drawing/2014/main" id="{ABC2AD88-51C2-D889-EA73-AC44C16695EA}"/>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dirty="0">
                <a:solidFill>
                  <a:schemeClr val="accent3"/>
                </a:solidFill>
              </a:rPr>
              <a:t>Thank you!</a:t>
            </a:r>
          </a:p>
        </p:txBody>
      </p:sp>
    </p:spTree>
    <p:extLst>
      <p:ext uri="{BB962C8B-B14F-4D97-AF65-F5344CB8AC3E}">
        <p14:creationId xmlns:p14="http://schemas.microsoft.com/office/powerpoint/2010/main" val="2771299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6" name="Google Shape;821;p40">
            <a:extLst>
              <a:ext uri="{FF2B5EF4-FFF2-40B4-BE49-F238E27FC236}">
                <a16:creationId xmlns:a16="http://schemas.microsoft.com/office/drawing/2014/main" id="{4D05C9F5-900C-F5F6-A499-34226227E4F8}"/>
              </a:ext>
            </a:extLst>
          </p:cNvPr>
          <p:cNvSpPr txBox="1">
            <a:spLocks noGrp="1"/>
          </p:cNvSpPr>
          <p:nvPr>
            <p:ph type="title"/>
          </p:nvPr>
        </p:nvSpPr>
        <p:spPr>
          <a:xfrm>
            <a:off x="2697204" y="1227824"/>
            <a:ext cx="4281300" cy="1625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000">
                <a:solidFill>
                  <a:schemeClr val="bg1"/>
                </a:solidFill>
              </a:rPr>
              <a:t>Thank</a:t>
            </a:r>
            <a:r>
              <a:rPr lang="en" sz="5000"/>
              <a:t> </a:t>
            </a:r>
            <a:r>
              <a:rPr lang="en" sz="5000">
                <a:solidFill>
                  <a:schemeClr val="accent6"/>
                </a:solidFill>
              </a:rPr>
              <a:t>{</a:t>
            </a:r>
            <a:r>
              <a:rPr lang="en" sz="2800">
                <a:solidFill>
                  <a:schemeClr val="accent3"/>
                </a:solidFill>
              </a:rPr>
              <a:t>        </a:t>
            </a:r>
            <a:br>
              <a:rPr lang="en" sz="2800">
                <a:solidFill>
                  <a:schemeClr val="accent3"/>
                </a:solidFill>
              </a:rPr>
            </a:br>
            <a:r>
              <a:rPr lang="en" sz="2800">
                <a:solidFill>
                  <a:schemeClr val="accent3"/>
                </a:solidFill>
              </a:rPr>
              <a:t> </a:t>
            </a:r>
            <a:r>
              <a:rPr lang="en" sz="6000">
                <a:solidFill>
                  <a:schemeClr val="accent2"/>
                </a:solidFill>
              </a:rPr>
              <a:t>You;</a:t>
            </a:r>
            <a:r>
              <a:rPr lang="en" sz="5000">
                <a:solidFill>
                  <a:schemeClr val="accent2"/>
                </a:solidFill>
              </a:rPr>
              <a:t> </a:t>
            </a:r>
            <a:endParaRPr sz="5000">
              <a:solidFill>
                <a:schemeClr val="accent2"/>
              </a:solidFill>
            </a:endParaRPr>
          </a:p>
        </p:txBody>
      </p:sp>
      <p:sp>
        <p:nvSpPr>
          <p:cNvPr id="7" name="Google Shape;824;p40">
            <a:extLst>
              <a:ext uri="{FF2B5EF4-FFF2-40B4-BE49-F238E27FC236}">
                <a16:creationId xmlns:a16="http://schemas.microsoft.com/office/drawing/2014/main" id="{34A1A422-85FC-C781-2D7C-AE3E91D14D31}"/>
              </a:ext>
            </a:extLst>
          </p:cNvPr>
          <p:cNvSpPr txBox="1"/>
          <p:nvPr/>
        </p:nvSpPr>
        <p:spPr>
          <a:xfrm>
            <a:off x="2544750" y="3415438"/>
            <a:ext cx="506100" cy="954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000">
                <a:solidFill>
                  <a:schemeClr val="accent6"/>
                </a:solidFill>
                <a:latin typeface="Fira Code"/>
                <a:ea typeface="Fira Code"/>
                <a:cs typeface="Fira Code"/>
                <a:sym typeface="Fira Code"/>
              </a:rPr>
              <a:t>}</a:t>
            </a:r>
            <a:endParaRPr sz="5000">
              <a:solidFill>
                <a:schemeClr val="accent6"/>
              </a:solidFill>
              <a:latin typeface="Fira Code"/>
              <a:ea typeface="Fira Code"/>
              <a:cs typeface="Fira Code"/>
              <a:sym typeface="Fira Code"/>
            </a:endParaRPr>
          </a:p>
        </p:txBody>
      </p:sp>
      <p:cxnSp>
        <p:nvCxnSpPr>
          <p:cNvPr id="8" name="Google Shape;825;p40">
            <a:extLst>
              <a:ext uri="{FF2B5EF4-FFF2-40B4-BE49-F238E27FC236}">
                <a16:creationId xmlns:a16="http://schemas.microsoft.com/office/drawing/2014/main" id="{BD850E54-FF01-3E02-810E-827C61C8D663}"/>
              </a:ext>
            </a:extLst>
          </p:cNvPr>
          <p:cNvCxnSpPr>
            <a:endCxn id="7" idx="0"/>
          </p:cNvCxnSpPr>
          <p:nvPr/>
        </p:nvCxnSpPr>
        <p:spPr>
          <a:xfrm>
            <a:off x="2797800" y="2876338"/>
            <a:ext cx="0" cy="539100"/>
          </a:xfrm>
          <a:prstGeom prst="straightConnector1">
            <a:avLst/>
          </a:prstGeom>
          <a:noFill/>
          <a:ln w="9525" cap="flat" cmpd="sng">
            <a:solidFill>
              <a:schemeClr val="accent4"/>
            </a:solidFill>
            <a:prstDash val="solid"/>
            <a:round/>
            <a:headEnd type="none" w="med" len="med"/>
            <a:tailEnd type="none" w="med" len="med"/>
          </a:ln>
        </p:spPr>
      </p:cxnSp>
      <p:sp>
        <p:nvSpPr>
          <p:cNvPr id="10" name="Google Shape;629;p33">
            <a:extLst>
              <a:ext uri="{FF2B5EF4-FFF2-40B4-BE49-F238E27FC236}">
                <a16:creationId xmlns:a16="http://schemas.microsoft.com/office/drawing/2014/main" id="{7AA07049-233B-A8AE-7A55-4006A30ACA3D}"/>
              </a:ext>
            </a:extLst>
          </p:cNvPr>
          <p:cNvSpPr txBox="1">
            <a:spLocks/>
          </p:cNvSpPr>
          <p:nvPr/>
        </p:nvSpPr>
        <p:spPr>
          <a:xfrm>
            <a:off x="4572000" y="91525"/>
            <a:ext cx="4572000" cy="357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1pPr>
            <a:lvl2pPr marL="914400" marR="0" lvl="1"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2pPr>
            <a:lvl3pPr marL="1371600" marR="0" lvl="2"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3pPr>
            <a:lvl4pPr marL="1828800" marR="0" lvl="3"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4pPr>
            <a:lvl5pPr marL="2286000" marR="0" lvl="4"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5pPr>
            <a:lvl6pPr marL="2743200" marR="0" lvl="5"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6pPr>
            <a:lvl7pPr marL="3200400" marR="0" lvl="6"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7pPr>
            <a:lvl8pPr marL="3657600" marR="0" lvl="7"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8pPr>
            <a:lvl9pPr marL="4114800" marR="0" lvl="8" indent="-317500" algn="l" rtl="0">
              <a:lnSpc>
                <a:spcPct val="100000"/>
              </a:lnSpc>
              <a:spcBef>
                <a:spcPts val="0"/>
              </a:spcBef>
              <a:spcAft>
                <a:spcPts val="0"/>
              </a:spcAft>
              <a:buClr>
                <a:schemeClr val="dk2"/>
              </a:buClr>
              <a:buSzPts val="1400"/>
              <a:buFont typeface="Fira Code"/>
              <a:buChar char="■"/>
              <a:defRPr sz="1400" b="0" i="0" u="none" strike="noStrike" cap="none">
                <a:solidFill>
                  <a:schemeClr val="dk2"/>
                </a:solidFill>
                <a:latin typeface="Fira Code"/>
                <a:ea typeface="Fira Code"/>
                <a:cs typeface="Fira Code"/>
                <a:sym typeface="Fira Code"/>
              </a:defRPr>
            </a:lvl9pPr>
          </a:lstStyle>
          <a:p>
            <a:pPr marL="0" indent="0" algn="ctr">
              <a:buFont typeface="Fira Code"/>
              <a:buNone/>
            </a:pPr>
            <a:r>
              <a:rPr lang="en-GB" sz="1600" dirty="0">
                <a:solidFill>
                  <a:schemeClr val="accent3"/>
                </a:solidFill>
              </a:rPr>
              <a:t>Thank you!</a:t>
            </a:r>
          </a:p>
        </p:txBody>
      </p:sp>
    </p:spTree>
  </p:cSld>
  <p:clrMapOvr>
    <a:masterClrMapping/>
  </p:clrMapOvr>
</p:sld>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2108</Words>
  <Application>Microsoft Macintosh PowerPoint</Application>
  <PresentationFormat>On-screen Show (16:9)</PresentationFormat>
  <Paragraphs>220</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Calibri</vt:lpstr>
      <vt:lpstr>Arial,Sans-Serif</vt:lpstr>
      <vt:lpstr>Fira Code</vt:lpstr>
      <vt:lpstr>Raleway</vt:lpstr>
      <vt:lpstr>Arial</vt:lpstr>
      <vt:lpstr>Programming Language Workshop for Beginners by Slidesgo</vt:lpstr>
      <vt:lpstr>Predicting Sales for ABC {</vt:lpstr>
      <vt:lpstr>if Higher Prediction:</vt:lpstr>
      <vt:lpstr>Goal; </vt:lpstr>
      <vt:lpstr>ABC's current approach:  Subjective forecasting and limited data</vt:lpstr>
      <vt:lpstr>Data Description</vt:lpstr>
      <vt:lpstr>Data Pre-Processing</vt:lpstr>
      <vt:lpstr>Extensive Exploratory Data Analysis</vt:lpstr>
      <vt:lpstr>Extensive Exploratory Data Analysis</vt:lpstr>
      <vt:lpstr>Extensive Exploratory Data Analysis</vt:lpstr>
      <vt:lpstr>Extensive Exploratory Data Analysis</vt:lpstr>
      <vt:lpstr>PowerPoint Presentation</vt:lpstr>
      <vt:lpstr>PowerPoint Presentation</vt:lpstr>
      <vt:lpstr>PowerPoint Presentation</vt:lpstr>
      <vt:lpstr>PowerPoint Presentation</vt:lpstr>
      <vt:lpstr>PowerPoint Presentation</vt:lpstr>
      <vt:lpstr>Models Selection {  </vt:lpstr>
      <vt:lpstr>Models Selection  </vt:lpstr>
      <vt:lpstr>Predictions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‘Python’ {</dc:title>
  <cp:lastModifiedBy>bansri k</cp:lastModifiedBy>
  <cp:revision>21</cp:revision>
  <dcterms:modified xsi:type="dcterms:W3CDTF">2026-04-07T10:53:17Z</dcterms:modified>
</cp:coreProperties>
</file>